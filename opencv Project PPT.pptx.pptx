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Times New Roman Bold" charset="1" panose="02020803070505020304"/>
      <p:regular r:id="rId26"/>
    </p:embeddedFont>
    <p:embeddedFont>
      <p:font typeface="Aptos Bold" charset="1" panose="020B0004020202020204"/>
      <p:regular r:id="rId28"/>
    </p:embeddedFont>
    <p:embeddedFont>
      <p:font typeface="Arimo Bold" charset="1" panose="020B0704020202020204"/>
      <p:regular r:id="rId29"/>
    </p:embeddedFont>
    <p:embeddedFont>
      <p:font typeface="Times New Roman" charset="1" panose="02020603050405020304"/>
      <p:regular r:id="rId30"/>
    </p:embeddedFont>
    <p:embeddedFont>
      <p:font typeface="Arimo" charset="1" panose="020B0604020202020204"/>
      <p:regular r:id="rId31"/>
    </p:embeddedFont>
    <p:embeddedFont>
      <p:font typeface="Libre Baskerville" charset="1" panose="020000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notesSlides/notesSlide2.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81" y="0"/>
            <a:ext cx="18286219" cy="10287000"/>
            <a:chOff x="0" y="0"/>
            <a:chExt cx="24381625" cy="13716000"/>
          </a:xfrm>
        </p:grpSpPr>
        <p:sp>
          <p:nvSpPr>
            <p:cNvPr name="Freeform 3" id="3"/>
            <p:cNvSpPr/>
            <p:nvPr/>
          </p:nvSpPr>
          <p:spPr>
            <a:xfrm flipH="false" flipV="false" rot="0">
              <a:off x="0" y="0"/>
              <a:ext cx="24381588" cy="13716000"/>
            </a:xfrm>
            <a:custGeom>
              <a:avLst/>
              <a:gdLst/>
              <a:ahLst/>
              <a:cxnLst/>
              <a:rect r="r" b="b" t="t" l="l"/>
              <a:pathLst>
                <a:path h="13716000" w="24381588">
                  <a:moveTo>
                    <a:pt x="0" y="0"/>
                  </a:moveTo>
                  <a:lnTo>
                    <a:pt x="24381588" y="0"/>
                  </a:lnTo>
                  <a:lnTo>
                    <a:pt x="24381588" y="13716000"/>
                  </a:lnTo>
                  <a:lnTo>
                    <a:pt x="0" y="13716000"/>
                  </a:lnTo>
                  <a:lnTo>
                    <a:pt x="0" y="0"/>
                  </a:lnTo>
                  <a:close/>
                </a:path>
              </a:pathLst>
            </a:custGeom>
            <a:blipFill>
              <a:blip r:embed="rId3"/>
              <a:stretch>
                <a:fillRect l="0" t="0" r="-27" b="0"/>
              </a:stretch>
            </a:blipFill>
          </p:spPr>
        </p:sp>
      </p:grpSp>
      <p:sp>
        <p:nvSpPr>
          <p:cNvPr name="TextBox 4" id="4"/>
          <p:cNvSpPr txBox="true"/>
          <p:nvPr/>
        </p:nvSpPr>
        <p:spPr>
          <a:xfrm rot="0">
            <a:off x="268405" y="5505612"/>
            <a:ext cx="17662693" cy="5457825"/>
          </a:xfrm>
          <a:prstGeom prst="rect">
            <a:avLst/>
          </a:prstGeom>
        </p:spPr>
        <p:txBody>
          <a:bodyPr anchor="t" rtlCol="false" tIns="0" lIns="0" bIns="0" rIns="0">
            <a:spAutoFit/>
          </a:bodyPr>
          <a:lstStyle/>
          <a:p>
            <a:pPr algn="ctr">
              <a:lnSpc>
                <a:spcPts val="5759"/>
              </a:lnSpc>
            </a:pPr>
            <a:r>
              <a:rPr lang="en-US" b="true" sz="4800">
                <a:solidFill>
                  <a:srgbClr val="FF0000"/>
                </a:solidFill>
                <a:latin typeface="Times New Roman Bold"/>
                <a:ea typeface="Times New Roman Bold"/>
                <a:cs typeface="Times New Roman Bold"/>
                <a:sym typeface="Times New Roman Bold"/>
              </a:rPr>
              <a:t>VisionBoard - Gesture Controlled </a:t>
            </a:r>
          </a:p>
          <a:p>
            <a:pPr algn="ctr">
              <a:lnSpc>
                <a:spcPts val="5759"/>
              </a:lnSpc>
            </a:pPr>
            <a:r>
              <a:rPr lang="en-US" b="true" sz="4800">
                <a:solidFill>
                  <a:srgbClr val="FF0000"/>
                </a:solidFill>
                <a:latin typeface="Times New Roman Bold"/>
                <a:ea typeface="Times New Roman Bold"/>
                <a:cs typeface="Times New Roman Bold"/>
                <a:sym typeface="Times New Roman Bold"/>
              </a:rPr>
              <a:t>Productivity Dashboard </a:t>
            </a:r>
          </a:p>
          <a:p>
            <a:pPr algn="ctr">
              <a:lnSpc>
                <a:spcPts val="4320"/>
              </a:lnSpc>
            </a:pPr>
          </a:p>
          <a:p>
            <a:pPr algn="ctr">
              <a:lnSpc>
                <a:spcPts val="4320"/>
              </a:lnSpc>
            </a:pPr>
            <a:r>
              <a:rPr lang="en-US" b="true" sz="3600">
                <a:solidFill>
                  <a:srgbClr val="FF0000"/>
                </a:solidFill>
                <a:latin typeface="Times New Roman Bold"/>
                <a:ea typeface="Times New Roman Bold"/>
                <a:cs typeface="Times New Roman Bold"/>
                <a:sym typeface="Times New Roman Bold"/>
              </a:rPr>
              <a:t>                                                                                              Presented By:</a:t>
            </a:r>
          </a:p>
          <a:p>
            <a:pPr algn="ctr">
              <a:lnSpc>
                <a:spcPts val="4320"/>
              </a:lnSpc>
            </a:pPr>
            <a:r>
              <a:rPr lang="en-US" b="true" sz="3600">
                <a:solidFill>
                  <a:srgbClr val="000000"/>
                </a:solidFill>
                <a:latin typeface="Times New Roman Bold"/>
                <a:ea typeface="Times New Roman Bold"/>
                <a:cs typeface="Times New Roman Bold"/>
                <a:sym typeface="Times New Roman Bold"/>
              </a:rPr>
              <a:t>                                                                                              Surya Teja</a:t>
            </a:r>
          </a:p>
          <a:p>
            <a:pPr algn="ctr">
              <a:lnSpc>
                <a:spcPts val="4320"/>
              </a:lnSpc>
            </a:pPr>
            <a:r>
              <a:rPr lang="en-US" b="true" sz="3600">
                <a:solidFill>
                  <a:srgbClr val="000000"/>
                </a:solidFill>
                <a:latin typeface="Times New Roman Bold"/>
                <a:ea typeface="Times New Roman Bold"/>
                <a:cs typeface="Times New Roman Bold"/>
                <a:sym typeface="Times New Roman Bold"/>
              </a:rPr>
              <a:t>                                                                                                  Batch no: 456</a:t>
            </a:r>
          </a:p>
          <a:p>
            <a:pPr algn="ctr">
              <a:lnSpc>
                <a:spcPts val="4320"/>
              </a:lnSpc>
            </a:pPr>
          </a:p>
          <a:p>
            <a:pPr algn="ctr">
              <a:lnSpc>
                <a:spcPts val="4320"/>
              </a:lnSpc>
            </a:pPr>
            <a:r>
              <a:rPr lang="en-US" b="true" sz="3600">
                <a:solidFill>
                  <a:srgbClr val="000000"/>
                </a:solidFill>
                <a:latin typeface="Times New Roman Bold"/>
                <a:ea typeface="Times New Roman Bold"/>
                <a:cs typeface="Times New Roman Bold"/>
                <a:sym typeface="Times New Roman Bold"/>
              </a:rPr>
              <a:t>                                                                                       </a:t>
            </a:r>
          </a:p>
          <a:p>
            <a:pPr algn="ctr">
              <a:lnSpc>
                <a:spcPts val="5759"/>
              </a:lnSpc>
            </a:pPr>
            <a:r>
              <a:rPr lang="en-US" b="true" sz="4800">
                <a:solidFill>
                  <a:srgbClr val="FF0000"/>
                </a:solidFill>
                <a:latin typeface="Times New Roman Bold"/>
                <a:ea typeface="Times New Roman Bold"/>
                <a:cs typeface="Times New Roman Bold"/>
                <a:sym typeface="Times New Roman Bold"/>
              </a:rPr>
              <a:t>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37127" y="0"/>
            <a:ext cx="4254918" cy="1666570"/>
            <a:chOff x="0" y="0"/>
            <a:chExt cx="5673224" cy="2222093"/>
          </a:xfrm>
        </p:grpSpPr>
        <p:sp>
          <p:nvSpPr>
            <p:cNvPr name="Freeform 3" id="3"/>
            <p:cNvSpPr/>
            <p:nvPr/>
          </p:nvSpPr>
          <p:spPr>
            <a:xfrm flipH="false" flipV="false" rot="0">
              <a:off x="0" y="0"/>
              <a:ext cx="5673222" cy="2222092"/>
            </a:xfrm>
            <a:custGeom>
              <a:avLst/>
              <a:gdLst/>
              <a:ahLst/>
              <a:cxnLst/>
              <a:rect r="r" b="b" t="t" l="l"/>
              <a:pathLst>
                <a:path h="2222092" w="5673222">
                  <a:moveTo>
                    <a:pt x="0" y="0"/>
                  </a:moveTo>
                  <a:lnTo>
                    <a:pt x="5673222" y="0"/>
                  </a:lnTo>
                  <a:lnTo>
                    <a:pt x="5673222" y="2222092"/>
                  </a:lnTo>
                  <a:lnTo>
                    <a:pt x="0" y="2222092"/>
                  </a:lnTo>
                  <a:close/>
                </a:path>
              </a:pathLst>
            </a:custGeom>
            <a:blipFill>
              <a:blip r:embed="rId3">
                <a:alphaModFix amt="0"/>
              </a:blip>
              <a:stretch>
                <a:fillRect l="-13726" t="0" r="14869" b="1643"/>
              </a:stretch>
            </a:blipFill>
          </p:spPr>
        </p:sp>
        <p:sp>
          <p:nvSpPr>
            <p:cNvPr name="TextBox 4" id="4"/>
            <p:cNvSpPr txBox="true"/>
            <p:nvPr/>
          </p:nvSpPr>
          <p:spPr>
            <a:xfrm>
              <a:off x="0" y="66675"/>
              <a:ext cx="5673224" cy="2155418"/>
            </a:xfrm>
            <a:prstGeom prst="rect">
              <a:avLst/>
            </a:prstGeom>
          </p:spPr>
          <p:txBody>
            <a:bodyPr anchor="ctr" rtlCol="false" tIns="0" lIns="0" bIns="0" rIns="0"/>
            <a:lstStyle/>
            <a:p>
              <a:pPr algn="l">
                <a:lnSpc>
                  <a:spcPts val="7128"/>
                </a:lnSpc>
              </a:pPr>
              <a:r>
                <a:rPr lang="en-US" b="true" sz="6600">
                  <a:solidFill>
                    <a:srgbClr val="FF0000"/>
                  </a:solidFill>
                  <a:latin typeface="Aptos Bold"/>
                  <a:ea typeface="Aptos Bold"/>
                  <a:cs typeface="Aptos Bold"/>
                  <a:sym typeface="Aptos Bold"/>
                </a:rPr>
                <a:t>Agenda </a:t>
              </a:r>
            </a:p>
          </p:txBody>
        </p:sp>
      </p:grpSp>
      <p:sp>
        <p:nvSpPr>
          <p:cNvPr name="TextBox 5" id="5"/>
          <p:cNvSpPr txBox="true"/>
          <p:nvPr/>
        </p:nvSpPr>
        <p:spPr>
          <a:xfrm rot="0">
            <a:off x="830694" y="1637995"/>
            <a:ext cx="15114911" cy="8389406"/>
          </a:xfrm>
          <a:prstGeom prst="rect">
            <a:avLst/>
          </a:prstGeom>
        </p:spPr>
        <p:txBody>
          <a:bodyPr anchor="t" rtlCol="false" tIns="0" lIns="0" bIns="0" rIns="0">
            <a:spAutoFit/>
          </a:bodyPr>
          <a:lstStyle/>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Introduction of this project</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Introduction to OpenCV</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Business Problem</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proposed solution</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Project Objectives</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Technologies Used</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System Architecture</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Project Workflow / Methodology</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Hand Gesture Detection Mechanism</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Key Features</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Challenges Faced During Development</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Real-World Applications</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Future Improvements</a:t>
            </a:r>
          </a:p>
          <a:p>
            <a:pPr algn="l" marL="638045" indent="-319022" lvl="1">
              <a:lnSpc>
                <a:spcPts val="4167"/>
              </a:lnSpc>
              <a:buFont typeface="Arial"/>
              <a:buChar char="•"/>
            </a:pPr>
            <a:r>
              <a:rPr lang="en-US" b="true" sz="3333">
                <a:solidFill>
                  <a:srgbClr val="000000"/>
                </a:solidFill>
                <a:latin typeface="Arimo Bold"/>
                <a:ea typeface="Arimo Bold"/>
                <a:cs typeface="Arimo Bold"/>
                <a:sym typeface="Arimo Bold"/>
              </a:rPr>
              <a:t>Conclusion</a:t>
            </a:r>
          </a:p>
          <a:p>
            <a:pPr algn="l" marL="638281" indent="-319141" lvl="1">
              <a:lnSpc>
                <a:spcPts val="4167"/>
              </a:lnSpc>
            </a:pPr>
          </a:p>
          <a:p>
            <a:pPr algn="l" marL="638281" indent="-319141" lvl="1">
              <a:lnSpc>
                <a:spcPts val="416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65329"/>
            <a:ext cx="18288000" cy="1326742"/>
            <a:chOff x="0" y="0"/>
            <a:chExt cx="24384000" cy="1768989"/>
          </a:xfrm>
        </p:grpSpPr>
        <p:sp>
          <p:nvSpPr>
            <p:cNvPr name="Freeform 3" id="3"/>
            <p:cNvSpPr/>
            <p:nvPr/>
          </p:nvSpPr>
          <p:spPr>
            <a:xfrm flipH="false" flipV="false" rot="0">
              <a:off x="0" y="0"/>
              <a:ext cx="24384000" cy="1768986"/>
            </a:xfrm>
            <a:custGeom>
              <a:avLst/>
              <a:gdLst/>
              <a:ahLst/>
              <a:cxnLst/>
              <a:rect r="r" b="b" t="t" l="l"/>
              <a:pathLst>
                <a:path h="1768986" w="24384000">
                  <a:moveTo>
                    <a:pt x="0" y="0"/>
                  </a:moveTo>
                  <a:lnTo>
                    <a:pt x="24384000" y="0"/>
                  </a:lnTo>
                  <a:lnTo>
                    <a:pt x="24384000" y="1768986"/>
                  </a:lnTo>
                  <a:lnTo>
                    <a:pt x="0" y="1768986"/>
                  </a:lnTo>
                  <a:close/>
                </a:path>
              </a:pathLst>
            </a:custGeom>
            <a:blipFill>
              <a:blip r:embed="rId2">
                <a:alphaModFix amt="0"/>
              </a:blip>
              <a:stretch>
                <a:fillRect l="0" t="-61468" r="61179" b="-47063"/>
              </a:stretch>
            </a:blipFill>
          </p:spPr>
        </p:sp>
        <p:sp>
          <p:nvSpPr>
            <p:cNvPr name="TextBox 4" id="4"/>
            <p:cNvSpPr txBox="true"/>
            <p:nvPr/>
          </p:nvSpPr>
          <p:spPr>
            <a:xfrm>
              <a:off x="0" y="38100"/>
              <a:ext cx="24384000" cy="1730889"/>
            </a:xfrm>
            <a:prstGeom prst="rect">
              <a:avLst/>
            </a:prstGeom>
          </p:spPr>
          <p:txBody>
            <a:bodyPr anchor="ctr" rtlCol="false" tIns="0" lIns="0" bIns="0" rIns="0"/>
            <a:lstStyle/>
            <a:p>
              <a:pPr algn="ctr">
                <a:lnSpc>
                  <a:spcPts val="7128"/>
                </a:lnSpc>
              </a:pPr>
              <a:r>
                <a:rPr lang="en-US" b="true" sz="6600" spc="-343">
                  <a:solidFill>
                    <a:srgbClr val="FF0000"/>
                  </a:solidFill>
                  <a:latin typeface="Times New Roman Bold"/>
                  <a:ea typeface="Times New Roman Bold"/>
                  <a:cs typeface="Times New Roman Bold"/>
                  <a:sym typeface="Times New Roman Bold"/>
                </a:rPr>
                <a:t>Introduction of the Project :</a:t>
              </a:r>
            </a:p>
          </p:txBody>
        </p:sp>
      </p:grpSp>
      <p:sp>
        <p:nvSpPr>
          <p:cNvPr name="TextBox 5" id="5"/>
          <p:cNvSpPr txBox="true"/>
          <p:nvPr/>
        </p:nvSpPr>
        <p:spPr>
          <a:xfrm rot="0">
            <a:off x="639590" y="1831903"/>
            <a:ext cx="17008820" cy="7426397"/>
          </a:xfrm>
          <a:prstGeom prst="rect">
            <a:avLst/>
          </a:prstGeom>
        </p:spPr>
        <p:txBody>
          <a:bodyPr anchor="t" rtlCol="false" tIns="0" lIns="0" bIns="0" rIns="0">
            <a:spAutoFit/>
          </a:bodyPr>
          <a:lstStyle/>
          <a:p>
            <a:pPr algn="l" marL="809816" indent="-404908" lvl="1">
              <a:lnSpc>
                <a:spcPts val="6564"/>
              </a:lnSpc>
              <a:buFont typeface="Arial"/>
              <a:buChar char="•"/>
            </a:pPr>
            <a:r>
              <a:rPr lang="en-US" sz="3750">
                <a:solidFill>
                  <a:srgbClr val="000000"/>
                </a:solidFill>
                <a:latin typeface="Times New Roman"/>
                <a:ea typeface="Times New Roman"/>
                <a:cs typeface="Times New Roman"/>
                <a:sym typeface="Times New Roman"/>
              </a:rPr>
              <a:t>This project presents a </a:t>
            </a:r>
            <a:r>
              <a:rPr lang="en-US" b="true" sz="3750">
                <a:solidFill>
                  <a:srgbClr val="000000"/>
                </a:solidFill>
                <a:latin typeface="Times New Roman Bold"/>
                <a:ea typeface="Times New Roman Bold"/>
                <a:cs typeface="Times New Roman Bold"/>
                <a:sym typeface="Times New Roman Bold"/>
              </a:rPr>
              <a:t>Gesture Controlled Task Dashboard</a:t>
            </a:r>
            <a:r>
              <a:rPr lang="en-US" sz="3750">
                <a:solidFill>
                  <a:srgbClr val="000000"/>
                </a:solidFill>
                <a:latin typeface="Times New Roman"/>
                <a:ea typeface="Times New Roman"/>
                <a:cs typeface="Times New Roman"/>
                <a:sym typeface="Times New Roman"/>
              </a:rPr>
              <a:t>, an interactive computer vision system that allows users to manage daily tasks using hand gestures instead of traditional input devices like a mouse or keyboard. The system uses a webcam to detect hand movements in real time and converts them into commands for interacting with the dashboard.</a:t>
            </a:r>
          </a:p>
          <a:p>
            <a:pPr algn="l" marL="809816" indent="-404908" lvl="1">
              <a:lnSpc>
                <a:spcPts val="6564"/>
              </a:lnSpc>
              <a:buFont typeface="Arial"/>
              <a:buChar char="•"/>
            </a:pPr>
            <a:r>
              <a:rPr lang="en-US" sz="3750">
                <a:solidFill>
                  <a:srgbClr val="000000"/>
                </a:solidFill>
                <a:latin typeface="Times New Roman"/>
                <a:ea typeface="Times New Roman"/>
                <a:cs typeface="Times New Roman"/>
                <a:sym typeface="Times New Roman"/>
              </a:rPr>
              <a:t>The dashboard also provides visual feedback through features such as a </a:t>
            </a:r>
            <a:r>
              <a:rPr lang="en-US" b="true" sz="3750">
                <a:solidFill>
                  <a:srgbClr val="000000"/>
                </a:solidFill>
                <a:latin typeface="Times New Roman Bold"/>
                <a:ea typeface="Times New Roman Bold"/>
                <a:cs typeface="Times New Roman Bold"/>
                <a:sym typeface="Times New Roman Bold"/>
              </a:rPr>
              <a:t>progress bar, completion zone, and animated celebration effects</a:t>
            </a:r>
            <a:r>
              <a:rPr lang="en-US" sz="3750">
                <a:solidFill>
                  <a:srgbClr val="000000"/>
                </a:solidFill>
                <a:latin typeface="Times New Roman"/>
                <a:ea typeface="Times New Roman"/>
                <a:cs typeface="Times New Roman"/>
                <a:sym typeface="Times New Roman"/>
              </a:rPr>
              <a:t>, creating an engaging and interactive task management experience while demonstrating the potential of </a:t>
            </a:r>
            <a:r>
              <a:rPr lang="en-US" b="true" sz="3750">
                <a:solidFill>
                  <a:srgbClr val="000000"/>
                </a:solidFill>
                <a:latin typeface="Times New Roman Bold"/>
                <a:ea typeface="Times New Roman Bold"/>
                <a:cs typeface="Times New Roman Bold"/>
                <a:sym typeface="Times New Roman Bold"/>
              </a:rPr>
              <a:t>touchless human–computer interaction systems</a:t>
            </a:r>
            <a:r>
              <a:rPr lang="en-US" sz="3750">
                <a:solidFill>
                  <a:srgbClr val="000000"/>
                </a:solidFill>
                <a:latin typeface="Times New Roman"/>
                <a:ea typeface="Times New Roman"/>
                <a:cs typeface="Times New Roman"/>
                <a:sym typeface="Times New Roman"/>
              </a:rPr>
              <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10470"/>
            <a:ext cx="18288000" cy="1326742"/>
            <a:chOff x="0" y="0"/>
            <a:chExt cx="24384000" cy="1768989"/>
          </a:xfrm>
        </p:grpSpPr>
        <p:sp>
          <p:nvSpPr>
            <p:cNvPr name="Freeform 3" id="3"/>
            <p:cNvSpPr/>
            <p:nvPr/>
          </p:nvSpPr>
          <p:spPr>
            <a:xfrm flipH="false" flipV="false" rot="0">
              <a:off x="0" y="0"/>
              <a:ext cx="24384000" cy="1768986"/>
            </a:xfrm>
            <a:custGeom>
              <a:avLst/>
              <a:gdLst/>
              <a:ahLst/>
              <a:cxnLst/>
              <a:rect r="r" b="b" t="t" l="l"/>
              <a:pathLst>
                <a:path h="1768986" w="24384000">
                  <a:moveTo>
                    <a:pt x="0" y="0"/>
                  </a:moveTo>
                  <a:lnTo>
                    <a:pt x="24384000" y="0"/>
                  </a:lnTo>
                  <a:lnTo>
                    <a:pt x="24384000" y="1768986"/>
                  </a:lnTo>
                  <a:lnTo>
                    <a:pt x="0" y="1768986"/>
                  </a:lnTo>
                  <a:close/>
                </a:path>
              </a:pathLst>
            </a:custGeom>
            <a:blipFill>
              <a:blip r:embed="rId2">
                <a:alphaModFix amt="0"/>
              </a:blip>
              <a:stretch>
                <a:fillRect l="0" t="-61468" r="61179" b="-47063"/>
              </a:stretch>
            </a:blipFill>
          </p:spPr>
        </p:sp>
        <p:sp>
          <p:nvSpPr>
            <p:cNvPr name="TextBox 4" id="4"/>
            <p:cNvSpPr txBox="true"/>
            <p:nvPr/>
          </p:nvSpPr>
          <p:spPr>
            <a:xfrm>
              <a:off x="0" y="38100"/>
              <a:ext cx="24384000" cy="1730889"/>
            </a:xfrm>
            <a:prstGeom prst="rect">
              <a:avLst/>
            </a:prstGeom>
          </p:spPr>
          <p:txBody>
            <a:bodyPr anchor="ctr" rtlCol="false" tIns="0" lIns="0" bIns="0" rIns="0"/>
            <a:lstStyle/>
            <a:p>
              <a:pPr algn="ctr">
                <a:lnSpc>
                  <a:spcPts val="7128"/>
                </a:lnSpc>
              </a:pPr>
              <a:r>
                <a:rPr lang="en-US" b="true" sz="6600" spc="-343">
                  <a:solidFill>
                    <a:srgbClr val="FF0000"/>
                  </a:solidFill>
                  <a:latin typeface="Times New Roman Bold"/>
                  <a:ea typeface="Times New Roman Bold"/>
                  <a:cs typeface="Times New Roman Bold"/>
                  <a:sym typeface="Times New Roman Bold"/>
                </a:rPr>
                <a:t>Introduction to OpenCV :</a:t>
              </a:r>
            </a:p>
          </p:txBody>
        </p:sp>
      </p:grpSp>
      <p:sp>
        <p:nvSpPr>
          <p:cNvPr name="TextBox 5" id="5"/>
          <p:cNvSpPr txBox="true"/>
          <p:nvPr/>
        </p:nvSpPr>
        <p:spPr>
          <a:xfrm rot="0">
            <a:off x="545538" y="1532912"/>
            <a:ext cx="17196925" cy="8349593"/>
          </a:xfrm>
          <a:prstGeom prst="rect">
            <a:avLst/>
          </a:prstGeom>
        </p:spPr>
        <p:txBody>
          <a:bodyPr anchor="t" rtlCol="false" tIns="0" lIns="0" bIns="0" rIns="0">
            <a:spAutoFit/>
          </a:bodyPr>
          <a:lstStyle/>
          <a:p>
            <a:pPr algn="l" marL="793494" indent="-396747" lvl="1">
              <a:lnSpc>
                <a:spcPts val="6615"/>
              </a:lnSpc>
              <a:buFont typeface="Arial"/>
              <a:buChar char="•"/>
            </a:pPr>
            <a:r>
              <a:rPr lang="en-US" sz="3675">
                <a:solidFill>
                  <a:srgbClr val="000000"/>
                </a:solidFill>
                <a:latin typeface="Times New Roman"/>
                <a:ea typeface="Times New Roman"/>
                <a:cs typeface="Times New Roman"/>
                <a:sym typeface="Times New Roman"/>
              </a:rPr>
              <a:t>Computer Vision is a field of Artificial Intelligence that enables computers to understand and interpret visual information from images and videos. It allows machines to identify objects, detect movements, and recognize patterns from visual data.</a:t>
            </a:r>
          </a:p>
          <a:p>
            <a:pPr algn="l" marL="793494" indent="-396747" lvl="1">
              <a:lnSpc>
                <a:spcPts val="6615"/>
              </a:lnSpc>
              <a:buFont typeface="Arial"/>
              <a:buChar char="•"/>
            </a:pPr>
            <a:r>
              <a:rPr lang="en-US" sz="3675">
                <a:solidFill>
                  <a:srgbClr val="000000"/>
                </a:solidFill>
                <a:latin typeface="Times New Roman"/>
                <a:ea typeface="Times New Roman"/>
                <a:cs typeface="Times New Roman"/>
                <a:sym typeface="Times New Roman"/>
              </a:rPr>
              <a:t>Computer vision systems process images using algorithms and extract meaningful features that help computers make decisions based on visual input</a:t>
            </a:r>
          </a:p>
          <a:p>
            <a:pPr algn="l">
              <a:lnSpc>
                <a:spcPts val="6615"/>
              </a:lnSpc>
            </a:pPr>
            <a:r>
              <a:rPr lang="en-US" sz="3675">
                <a:solidFill>
                  <a:srgbClr val="000000"/>
                </a:solidFill>
                <a:latin typeface="Times New Roman"/>
                <a:ea typeface="Times New Roman"/>
                <a:cs typeface="Times New Roman"/>
                <a:sym typeface="Times New Roman"/>
              </a:rPr>
              <a:t>Some common applications of computer vision include:</a:t>
            </a:r>
          </a:p>
          <a:p>
            <a:pPr algn="l" marL="793494" indent="-396747" lvl="1">
              <a:lnSpc>
                <a:spcPts val="6615"/>
              </a:lnSpc>
              <a:buFont typeface="Arial"/>
              <a:buChar char="•"/>
            </a:pPr>
            <a:r>
              <a:rPr lang="en-US" sz="3675">
                <a:solidFill>
                  <a:srgbClr val="000000"/>
                </a:solidFill>
                <a:latin typeface="Times New Roman"/>
                <a:ea typeface="Times New Roman"/>
                <a:cs typeface="Times New Roman"/>
                <a:sym typeface="Times New Roman"/>
              </a:rPr>
              <a:t>   </a:t>
            </a:r>
            <a:r>
              <a:rPr lang="en-US" sz="3675">
                <a:solidFill>
                  <a:srgbClr val="000000"/>
                </a:solidFill>
                <a:latin typeface="Times New Roman"/>
                <a:ea typeface="Times New Roman"/>
                <a:cs typeface="Times New Roman"/>
                <a:sym typeface="Times New Roman"/>
              </a:rPr>
              <a:t>Face recognition systems</a:t>
            </a:r>
          </a:p>
          <a:p>
            <a:pPr algn="l" marL="793494" indent="-396747" lvl="1">
              <a:lnSpc>
                <a:spcPts val="6615"/>
              </a:lnSpc>
              <a:buFont typeface="Arial"/>
              <a:buChar char="•"/>
            </a:pPr>
            <a:r>
              <a:rPr lang="en-US" sz="3675">
                <a:solidFill>
                  <a:srgbClr val="000000"/>
                </a:solidFill>
                <a:latin typeface="Times New Roman"/>
                <a:ea typeface="Times New Roman"/>
                <a:cs typeface="Times New Roman"/>
                <a:sym typeface="Times New Roman"/>
              </a:rPr>
              <a:t>   Gesture recognition systems</a:t>
            </a:r>
          </a:p>
          <a:p>
            <a:pPr algn="l" marL="793494" indent="-396747" lvl="1">
              <a:lnSpc>
                <a:spcPts val="6615"/>
              </a:lnSpc>
              <a:buFont typeface="Arial"/>
              <a:buChar char="•"/>
            </a:pPr>
            <a:r>
              <a:rPr lang="en-US" sz="3675">
                <a:solidFill>
                  <a:srgbClr val="000000"/>
                </a:solidFill>
                <a:latin typeface="Times New Roman"/>
                <a:ea typeface="Times New Roman"/>
                <a:cs typeface="Times New Roman"/>
                <a:sym typeface="Times New Roman"/>
              </a:rPr>
              <a:t>   Security and surveillance systems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5557"/>
            <a:ext cx="18288000" cy="1326742"/>
            <a:chOff x="0" y="0"/>
            <a:chExt cx="24384000" cy="1768989"/>
          </a:xfrm>
        </p:grpSpPr>
        <p:sp>
          <p:nvSpPr>
            <p:cNvPr name="Freeform 3" id="3"/>
            <p:cNvSpPr/>
            <p:nvPr/>
          </p:nvSpPr>
          <p:spPr>
            <a:xfrm flipH="false" flipV="false" rot="0">
              <a:off x="0" y="0"/>
              <a:ext cx="24384000" cy="1768986"/>
            </a:xfrm>
            <a:custGeom>
              <a:avLst/>
              <a:gdLst/>
              <a:ahLst/>
              <a:cxnLst/>
              <a:rect r="r" b="b" t="t" l="l"/>
              <a:pathLst>
                <a:path h="1768986" w="24384000">
                  <a:moveTo>
                    <a:pt x="0" y="0"/>
                  </a:moveTo>
                  <a:lnTo>
                    <a:pt x="24384000" y="0"/>
                  </a:lnTo>
                  <a:lnTo>
                    <a:pt x="24384000" y="1768986"/>
                  </a:lnTo>
                  <a:lnTo>
                    <a:pt x="0" y="1768986"/>
                  </a:lnTo>
                  <a:close/>
                </a:path>
              </a:pathLst>
            </a:custGeom>
            <a:blipFill>
              <a:blip r:embed="rId2">
                <a:alphaModFix amt="0"/>
              </a:blip>
              <a:stretch>
                <a:fillRect l="0" t="-61468" r="61179" b="-47063"/>
              </a:stretch>
            </a:blipFill>
          </p:spPr>
        </p:sp>
        <p:sp>
          <p:nvSpPr>
            <p:cNvPr name="TextBox 4" id="4"/>
            <p:cNvSpPr txBox="true"/>
            <p:nvPr/>
          </p:nvSpPr>
          <p:spPr>
            <a:xfrm>
              <a:off x="0" y="38100"/>
              <a:ext cx="24384000" cy="1730889"/>
            </a:xfrm>
            <a:prstGeom prst="rect">
              <a:avLst/>
            </a:prstGeom>
          </p:spPr>
          <p:txBody>
            <a:bodyPr anchor="ctr" rtlCol="false" tIns="0" lIns="0" bIns="0" rIns="0"/>
            <a:lstStyle/>
            <a:p>
              <a:pPr algn="ctr">
                <a:lnSpc>
                  <a:spcPts val="7128"/>
                </a:lnSpc>
              </a:pPr>
              <a:r>
                <a:rPr lang="en-US" b="true" sz="6600" spc="-343">
                  <a:solidFill>
                    <a:srgbClr val="FF0000"/>
                  </a:solidFill>
                  <a:latin typeface="Times New Roman Bold"/>
                  <a:ea typeface="Times New Roman Bold"/>
                  <a:cs typeface="Times New Roman Bold"/>
                  <a:sym typeface="Times New Roman Bold"/>
                </a:rPr>
                <a:t>Business problem :</a:t>
              </a:r>
            </a:p>
          </p:txBody>
        </p:sp>
      </p:grpSp>
      <p:sp>
        <p:nvSpPr>
          <p:cNvPr name="TextBox 5" id="5"/>
          <p:cNvSpPr txBox="true"/>
          <p:nvPr/>
        </p:nvSpPr>
        <p:spPr>
          <a:xfrm rot="0">
            <a:off x="476594" y="1286371"/>
            <a:ext cx="16990074" cy="8195703"/>
          </a:xfrm>
          <a:prstGeom prst="rect">
            <a:avLst/>
          </a:prstGeom>
        </p:spPr>
        <p:txBody>
          <a:bodyPr anchor="t" rtlCol="false" tIns="0" lIns="0" bIns="0" rIns="0">
            <a:spAutoFit/>
          </a:bodyPr>
          <a:lstStyle/>
          <a:p>
            <a:pPr algn="l">
              <a:lnSpc>
                <a:spcPts val="5083"/>
              </a:lnSpc>
            </a:pPr>
            <a:r>
              <a:rPr lang="en-US" sz="3177">
                <a:solidFill>
                  <a:srgbClr val="000000"/>
                </a:solidFill>
                <a:latin typeface="Arimo"/>
                <a:ea typeface="Arimo"/>
                <a:cs typeface="Arimo"/>
                <a:sym typeface="Arimo"/>
              </a:rPr>
              <a:t>The current landscape of productivity tools often suffers from "Interface Fatigue"—where the friction of navigating traditional software hinders the user's flow.</a:t>
            </a:r>
          </a:p>
          <a:p>
            <a:pPr algn="l" marL="669589" indent="-334794" lvl="1">
              <a:lnSpc>
                <a:spcPts val="4962"/>
              </a:lnSpc>
              <a:buFont typeface="Arial"/>
              <a:buChar char="•"/>
            </a:pPr>
            <a:r>
              <a:rPr lang="en-US" b="true" sz="3101">
                <a:solidFill>
                  <a:srgbClr val="000000"/>
                </a:solidFill>
                <a:latin typeface="Arimo Bold"/>
                <a:ea typeface="Arimo Bold"/>
                <a:cs typeface="Arimo Bold"/>
                <a:sym typeface="Arimo Bold"/>
              </a:rPr>
              <a:t>Static Interaction:</a:t>
            </a:r>
            <a:r>
              <a:rPr lang="en-US" sz="3101">
                <a:solidFill>
                  <a:srgbClr val="000000"/>
                </a:solidFill>
                <a:latin typeface="Arimo"/>
                <a:ea typeface="Arimo"/>
                <a:cs typeface="Arimo"/>
                <a:sym typeface="Arimo"/>
              </a:rPr>
              <a:t> Standard task managers (Excel, Trello, Todoist) rely heavily on mouse clicks and keyboard shortcuts, which can feel repetitive and disconnected from physical activity.</a:t>
            </a:r>
          </a:p>
          <a:p>
            <a:pPr algn="l" marL="669589" indent="-334794" lvl="1">
              <a:lnSpc>
                <a:spcPts val="4962"/>
              </a:lnSpc>
              <a:buFont typeface="Arial"/>
              <a:buChar char="•"/>
            </a:pPr>
            <a:r>
              <a:rPr lang="en-US" b="true" sz="3101">
                <a:solidFill>
                  <a:srgbClr val="000000"/>
                </a:solidFill>
                <a:latin typeface="Arimo Bold"/>
                <a:ea typeface="Arimo Bold"/>
                <a:cs typeface="Arimo Bold"/>
                <a:sym typeface="Arimo Bold"/>
              </a:rPr>
              <a:t>Accessibility &amp; Hygiene:</a:t>
            </a:r>
            <a:r>
              <a:rPr lang="en-US" sz="3101">
                <a:solidFill>
                  <a:srgbClr val="000000"/>
                </a:solidFill>
                <a:latin typeface="Arimo"/>
                <a:ea typeface="Arimo"/>
                <a:cs typeface="Arimo"/>
                <a:sym typeface="Arimo"/>
              </a:rPr>
              <a:t> In certain environments (e.g., medical labs, kitchens, or workshops), users need to interact with digital data but cannot touch physical peripherals due to hygiene standards or busy hands.</a:t>
            </a:r>
          </a:p>
          <a:p>
            <a:pPr algn="l" marL="669589" indent="-334794" lvl="1">
              <a:lnSpc>
                <a:spcPts val="4962"/>
              </a:lnSpc>
              <a:buFont typeface="Arial"/>
              <a:buChar char="•"/>
            </a:pPr>
            <a:r>
              <a:rPr lang="en-US" b="true" sz="3101">
                <a:solidFill>
                  <a:srgbClr val="000000"/>
                </a:solidFill>
                <a:latin typeface="Arimo Bold"/>
                <a:ea typeface="Arimo Bold"/>
                <a:cs typeface="Arimo Bold"/>
                <a:sym typeface="Arimo Bold"/>
              </a:rPr>
              <a:t>Lack of Engagement:</a:t>
            </a:r>
            <a:r>
              <a:rPr lang="en-US" sz="3101">
                <a:solidFill>
                  <a:srgbClr val="000000"/>
                </a:solidFill>
                <a:latin typeface="Arimo"/>
                <a:ea typeface="Arimo"/>
                <a:cs typeface="Arimo"/>
                <a:sym typeface="Arimo"/>
              </a:rPr>
              <a:t> Data management is often perceived as a "chore." Traditional UI/UX lacks the interactive "gamification" required to maintain high user engagement during mundane tasks.</a:t>
            </a:r>
          </a:p>
          <a:p>
            <a:pPr algn="l" marL="669589" indent="-334794" lvl="1">
              <a:lnSpc>
                <a:spcPts val="4962"/>
              </a:lnSpc>
              <a:buFont typeface="Arial"/>
              <a:buChar char="•"/>
            </a:pPr>
            <a:r>
              <a:rPr lang="en-US" b="true" sz="3101">
                <a:solidFill>
                  <a:srgbClr val="000000"/>
                </a:solidFill>
                <a:latin typeface="Arimo Bold"/>
                <a:ea typeface="Arimo Bold"/>
                <a:cs typeface="Arimo Bold"/>
                <a:sym typeface="Arimo Bold"/>
              </a:rPr>
              <a:t>Information Overload:</a:t>
            </a:r>
            <a:r>
              <a:rPr lang="en-US" sz="3101">
                <a:solidFill>
                  <a:srgbClr val="000000"/>
                </a:solidFill>
                <a:latin typeface="Arimo"/>
                <a:ea typeface="Arimo"/>
                <a:cs typeface="Arimo"/>
                <a:sym typeface="Arimo"/>
              </a:rPr>
              <a:t> Viewing a massive list of tasks without intuitive filtering makes it difficult for users to prioritize effectively based on importance.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26742"/>
            <a:chOff x="0" y="0"/>
            <a:chExt cx="24384000" cy="1768989"/>
          </a:xfrm>
        </p:grpSpPr>
        <p:sp>
          <p:nvSpPr>
            <p:cNvPr name="Freeform 3" id="3"/>
            <p:cNvSpPr/>
            <p:nvPr/>
          </p:nvSpPr>
          <p:spPr>
            <a:xfrm flipH="false" flipV="false" rot="0">
              <a:off x="0" y="0"/>
              <a:ext cx="24384000" cy="1768986"/>
            </a:xfrm>
            <a:custGeom>
              <a:avLst/>
              <a:gdLst/>
              <a:ahLst/>
              <a:cxnLst/>
              <a:rect r="r" b="b" t="t" l="l"/>
              <a:pathLst>
                <a:path h="1768986" w="24384000">
                  <a:moveTo>
                    <a:pt x="0" y="0"/>
                  </a:moveTo>
                  <a:lnTo>
                    <a:pt x="24384000" y="0"/>
                  </a:lnTo>
                  <a:lnTo>
                    <a:pt x="24384000" y="1768986"/>
                  </a:lnTo>
                  <a:lnTo>
                    <a:pt x="0" y="1768986"/>
                  </a:lnTo>
                  <a:close/>
                </a:path>
              </a:pathLst>
            </a:custGeom>
            <a:blipFill>
              <a:blip r:embed="rId2">
                <a:alphaModFix amt="0"/>
              </a:blip>
              <a:stretch>
                <a:fillRect l="0" t="-61468" r="61179" b="-47063"/>
              </a:stretch>
            </a:blipFill>
          </p:spPr>
        </p:sp>
        <p:sp>
          <p:nvSpPr>
            <p:cNvPr name="TextBox 4" id="4"/>
            <p:cNvSpPr txBox="true"/>
            <p:nvPr/>
          </p:nvSpPr>
          <p:spPr>
            <a:xfrm>
              <a:off x="0" y="38100"/>
              <a:ext cx="24384000" cy="1730889"/>
            </a:xfrm>
            <a:prstGeom prst="rect">
              <a:avLst/>
            </a:prstGeom>
          </p:spPr>
          <p:txBody>
            <a:bodyPr anchor="ctr" rtlCol="false" tIns="0" lIns="0" bIns="0" rIns="0"/>
            <a:lstStyle/>
            <a:p>
              <a:pPr algn="ctr">
                <a:lnSpc>
                  <a:spcPts val="7128"/>
                </a:lnSpc>
              </a:pPr>
              <a:r>
                <a:rPr lang="en-US" b="true" sz="6600" spc="-343">
                  <a:solidFill>
                    <a:srgbClr val="FF0000"/>
                  </a:solidFill>
                  <a:latin typeface="Times New Roman Bold"/>
                  <a:ea typeface="Times New Roman Bold"/>
                  <a:cs typeface="Times New Roman Bold"/>
                  <a:sym typeface="Times New Roman Bold"/>
                </a:rPr>
                <a:t>Proposed Solution :</a:t>
              </a:r>
            </a:p>
          </p:txBody>
        </p:sp>
      </p:grpSp>
      <p:sp>
        <p:nvSpPr>
          <p:cNvPr name="TextBox 5" id="5"/>
          <p:cNvSpPr txBox="true"/>
          <p:nvPr/>
        </p:nvSpPr>
        <p:spPr>
          <a:xfrm rot="0">
            <a:off x="648963" y="1251037"/>
            <a:ext cx="17365981" cy="8328229"/>
          </a:xfrm>
          <a:prstGeom prst="rect">
            <a:avLst/>
          </a:prstGeom>
        </p:spPr>
        <p:txBody>
          <a:bodyPr anchor="t" rtlCol="false" tIns="0" lIns="0" bIns="0" rIns="0">
            <a:spAutoFit/>
          </a:bodyPr>
          <a:lstStyle/>
          <a:p>
            <a:pPr algn="l" marL="736216" indent="-368108" lvl="1">
              <a:lnSpc>
                <a:spcPts val="6615"/>
              </a:lnSpc>
              <a:buFont typeface="Arial"/>
              <a:buChar char="•"/>
            </a:pPr>
            <a:r>
              <a:rPr lang="en-US" b="true" sz="3409">
                <a:solidFill>
                  <a:srgbClr val="000000"/>
                </a:solidFill>
                <a:latin typeface="Arimo Bold"/>
                <a:ea typeface="Arimo Bold"/>
                <a:cs typeface="Arimo Bold"/>
                <a:sym typeface="Arimo Bold"/>
              </a:rPr>
              <a:t>Touchless Interface:</a:t>
            </a:r>
            <a:r>
              <a:rPr lang="en-US" sz="3409">
                <a:solidFill>
                  <a:srgbClr val="000000"/>
                </a:solidFill>
                <a:latin typeface="Arimo"/>
                <a:ea typeface="Arimo"/>
                <a:cs typeface="Arimo"/>
                <a:sym typeface="Arimo"/>
              </a:rPr>
              <a:t> A "Minority Report" style dashboard controlled entirely via hand gestures.</a:t>
            </a:r>
          </a:p>
          <a:p>
            <a:pPr algn="l" marL="736216" indent="-368108" lvl="1">
              <a:lnSpc>
                <a:spcPts val="6615"/>
              </a:lnSpc>
              <a:buFont typeface="Arial"/>
              <a:buChar char="•"/>
            </a:pPr>
            <a:r>
              <a:rPr lang="en-US" b="true" sz="3409">
                <a:solidFill>
                  <a:srgbClr val="000000"/>
                </a:solidFill>
                <a:latin typeface="Arimo Bold"/>
                <a:ea typeface="Arimo Bold"/>
                <a:cs typeface="Arimo Bold"/>
                <a:sym typeface="Arimo Bold"/>
              </a:rPr>
              <a:t>Excel Integration:</a:t>
            </a:r>
            <a:r>
              <a:rPr lang="en-US" sz="3409">
                <a:solidFill>
                  <a:srgbClr val="000000"/>
                </a:solidFill>
                <a:latin typeface="Arimo"/>
                <a:ea typeface="Arimo"/>
                <a:cs typeface="Arimo"/>
                <a:sym typeface="Arimo"/>
              </a:rPr>
              <a:t> Converts static spreadsheets into a dynamic, interactive 2D workspace.</a:t>
            </a:r>
          </a:p>
          <a:p>
            <a:pPr algn="l" marL="736216" indent="-368108" lvl="1">
              <a:lnSpc>
                <a:spcPts val="6615"/>
              </a:lnSpc>
              <a:buFont typeface="Arial"/>
              <a:buChar char="•"/>
            </a:pPr>
            <a:r>
              <a:rPr lang="en-US" b="true" sz="3409">
                <a:solidFill>
                  <a:srgbClr val="000000"/>
                </a:solidFill>
                <a:latin typeface="Arimo Bold"/>
                <a:ea typeface="Arimo Bold"/>
                <a:cs typeface="Arimo Bold"/>
                <a:sym typeface="Arimo Bold"/>
              </a:rPr>
              <a:t>Gesture-Logic Mapping:</a:t>
            </a:r>
          </a:p>
          <a:p>
            <a:pPr algn="l">
              <a:lnSpc>
                <a:spcPts val="6615"/>
              </a:lnSpc>
            </a:pPr>
            <a:r>
              <a:rPr lang="en-US" sz="3409">
                <a:solidFill>
                  <a:srgbClr val="000000"/>
                </a:solidFill>
                <a:latin typeface="Arimo"/>
                <a:ea typeface="Arimo"/>
                <a:cs typeface="Arimo"/>
                <a:sym typeface="Arimo"/>
              </a:rPr>
              <a:t>            </a:t>
            </a:r>
            <a:r>
              <a:rPr lang="en-US" sz="3409" b="true">
                <a:solidFill>
                  <a:srgbClr val="000000"/>
                </a:solidFill>
                <a:latin typeface="Arimo Bold"/>
                <a:ea typeface="Arimo Bold"/>
                <a:cs typeface="Arimo Bold"/>
                <a:sym typeface="Arimo Bold"/>
              </a:rPr>
              <a:t>Pinch &amp; Drag:</a:t>
            </a:r>
            <a:r>
              <a:rPr lang="en-US" sz="3409">
                <a:solidFill>
                  <a:srgbClr val="000000"/>
                </a:solidFill>
                <a:latin typeface="Arimo"/>
                <a:ea typeface="Arimo"/>
                <a:cs typeface="Arimo"/>
                <a:sym typeface="Arimo"/>
              </a:rPr>
              <a:t> Move and organize tasks.</a:t>
            </a:r>
          </a:p>
          <a:p>
            <a:pPr algn="l">
              <a:lnSpc>
                <a:spcPts val="6615"/>
              </a:lnSpc>
            </a:pPr>
            <a:r>
              <a:rPr lang="en-US" sz="3409">
                <a:solidFill>
                  <a:srgbClr val="000000"/>
                </a:solidFill>
                <a:latin typeface="Arimo"/>
                <a:ea typeface="Arimo"/>
                <a:cs typeface="Arimo"/>
                <a:sym typeface="Arimo"/>
              </a:rPr>
              <a:t>            </a:t>
            </a:r>
            <a:r>
              <a:rPr lang="en-US" sz="3409" b="true">
                <a:solidFill>
                  <a:srgbClr val="000000"/>
                </a:solidFill>
                <a:latin typeface="Arimo Bold"/>
                <a:ea typeface="Arimo Bold"/>
                <a:cs typeface="Arimo Bold"/>
                <a:sym typeface="Arimo Bold"/>
              </a:rPr>
              <a:t>Triple Pinch:</a:t>
            </a:r>
            <a:r>
              <a:rPr lang="en-US" sz="3409">
                <a:solidFill>
                  <a:srgbClr val="000000"/>
                </a:solidFill>
                <a:latin typeface="Arimo"/>
                <a:ea typeface="Arimo"/>
                <a:cs typeface="Arimo"/>
                <a:sym typeface="Arimo"/>
              </a:rPr>
              <a:t> "Deep Dive" into task details.</a:t>
            </a:r>
          </a:p>
          <a:p>
            <a:pPr algn="l" marL="736216" indent="-368108" lvl="1">
              <a:lnSpc>
                <a:spcPts val="6615"/>
              </a:lnSpc>
              <a:buFont typeface="Arial"/>
              <a:buChar char="•"/>
            </a:pPr>
            <a:r>
              <a:rPr lang="en-US" b="true" sz="3409">
                <a:solidFill>
                  <a:srgbClr val="000000"/>
                </a:solidFill>
                <a:latin typeface="Arimo Bold"/>
                <a:ea typeface="Arimo Bold"/>
                <a:cs typeface="Arimo Bold"/>
                <a:sym typeface="Arimo Bold"/>
              </a:rPr>
              <a:t>Spatial Completion:</a:t>
            </a:r>
            <a:r>
              <a:rPr lang="en-US" sz="3409">
                <a:solidFill>
                  <a:srgbClr val="000000"/>
                </a:solidFill>
                <a:latin typeface="Arimo"/>
                <a:ea typeface="Arimo"/>
                <a:cs typeface="Arimo"/>
                <a:sym typeface="Arimo"/>
              </a:rPr>
              <a:t> A physical "Drop Zone" to mark tasks as finished.</a:t>
            </a:r>
          </a:p>
          <a:p>
            <a:pPr algn="l" marL="736216" indent="-368108" lvl="1">
              <a:lnSpc>
                <a:spcPts val="6615"/>
              </a:lnSpc>
              <a:buFont typeface="Arial"/>
              <a:buChar char="•"/>
            </a:pPr>
            <a:r>
              <a:rPr lang="en-US" b="true" sz="3409">
                <a:solidFill>
                  <a:srgbClr val="000000"/>
                </a:solidFill>
                <a:latin typeface="Arimo Bold"/>
                <a:ea typeface="Arimo Bold"/>
                <a:cs typeface="Arimo Bold"/>
                <a:sym typeface="Arimo Bold"/>
              </a:rPr>
              <a:t>Real-time Feedback:</a:t>
            </a:r>
            <a:r>
              <a:rPr lang="en-US" sz="3409">
                <a:solidFill>
                  <a:srgbClr val="000000"/>
                </a:solidFill>
                <a:latin typeface="Arimo"/>
                <a:ea typeface="Arimo"/>
                <a:cs typeface="Arimo"/>
                <a:sym typeface="Arimo"/>
              </a:rPr>
              <a:t> Live progress tracking and gamified "Celebration Mode" animations.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34731"/>
            <a:ext cx="18288000" cy="1326742"/>
            <a:chOff x="0" y="0"/>
            <a:chExt cx="24384000" cy="1768989"/>
          </a:xfrm>
        </p:grpSpPr>
        <p:sp>
          <p:nvSpPr>
            <p:cNvPr name="Freeform 3" id="3"/>
            <p:cNvSpPr/>
            <p:nvPr/>
          </p:nvSpPr>
          <p:spPr>
            <a:xfrm flipH="false" flipV="false" rot="0">
              <a:off x="0" y="0"/>
              <a:ext cx="24384000" cy="1768988"/>
            </a:xfrm>
            <a:custGeom>
              <a:avLst/>
              <a:gdLst/>
              <a:ahLst/>
              <a:cxnLst/>
              <a:rect r="r" b="b" t="t" l="l"/>
              <a:pathLst>
                <a:path h="1768988" w="24384000">
                  <a:moveTo>
                    <a:pt x="0" y="0"/>
                  </a:moveTo>
                  <a:lnTo>
                    <a:pt x="24384000" y="0"/>
                  </a:lnTo>
                  <a:lnTo>
                    <a:pt x="24384000" y="1768988"/>
                  </a:lnTo>
                  <a:lnTo>
                    <a:pt x="0" y="1768988"/>
                  </a:lnTo>
                  <a:close/>
                </a:path>
              </a:pathLst>
            </a:custGeom>
            <a:blipFill>
              <a:blip r:embed="rId2">
                <a:alphaModFix amt="0"/>
              </a:blip>
              <a:stretch>
                <a:fillRect l="0" t="-187820" r="13750" b="-175488"/>
              </a:stretch>
            </a:blipFill>
          </p:spPr>
        </p:sp>
        <p:sp>
          <p:nvSpPr>
            <p:cNvPr name="TextBox 4" id="4"/>
            <p:cNvSpPr txBox="true"/>
            <p:nvPr/>
          </p:nvSpPr>
          <p:spPr>
            <a:xfrm>
              <a:off x="0" y="38100"/>
              <a:ext cx="24384000" cy="1730889"/>
            </a:xfrm>
            <a:prstGeom prst="rect">
              <a:avLst/>
            </a:prstGeom>
          </p:spPr>
          <p:txBody>
            <a:bodyPr anchor="ctr" rtlCol="false" tIns="0" lIns="0" bIns="0" rIns="0"/>
            <a:lstStyle/>
            <a:p>
              <a:pPr algn="ctr">
                <a:lnSpc>
                  <a:spcPts val="7128"/>
                </a:lnSpc>
              </a:pPr>
              <a:r>
                <a:rPr lang="en-US" b="true" sz="6600" spc="-15">
                  <a:solidFill>
                    <a:srgbClr val="FF0000"/>
                  </a:solidFill>
                  <a:latin typeface="Times New Roman Bold"/>
                  <a:ea typeface="Times New Roman Bold"/>
                  <a:cs typeface="Times New Roman Bold"/>
                  <a:sym typeface="Times New Roman Bold"/>
                </a:rPr>
                <a:t>Project Objectives:</a:t>
              </a:r>
            </a:p>
          </p:txBody>
        </p:sp>
      </p:grpSp>
      <p:sp>
        <p:nvSpPr>
          <p:cNvPr name="TextBox 5" id="5"/>
          <p:cNvSpPr txBox="true"/>
          <p:nvPr/>
        </p:nvSpPr>
        <p:spPr>
          <a:xfrm rot="0">
            <a:off x="755113" y="1682172"/>
            <a:ext cx="16184147" cy="8336280"/>
          </a:xfrm>
          <a:prstGeom prst="rect">
            <a:avLst/>
          </a:prstGeom>
        </p:spPr>
        <p:txBody>
          <a:bodyPr anchor="t" rtlCol="false" tIns="0" lIns="0" bIns="0" rIns="0">
            <a:spAutoFit/>
          </a:bodyPr>
          <a:lstStyle/>
          <a:p>
            <a:pPr algn="l" marL="669137" indent="-334569" lvl="1">
              <a:lnSpc>
                <a:spcPts val="5549"/>
              </a:lnSpc>
              <a:buFont typeface="Arial"/>
              <a:buChar char="•"/>
            </a:pPr>
            <a:r>
              <a:rPr lang="en-US" sz="3699">
                <a:solidFill>
                  <a:srgbClr val="000000"/>
                </a:solidFill>
                <a:latin typeface="Times New Roman"/>
                <a:ea typeface="Times New Roman"/>
                <a:cs typeface="Times New Roman"/>
                <a:sym typeface="Times New Roman"/>
              </a:rPr>
              <a:t>Design and develop a real-time gesture-controlled task management dashboard using computer vision</a:t>
            </a:r>
          </a:p>
          <a:p>
            <a:pPr algn="l" marL="669137" indent="-334569" lvl="1">
              <a:lnSpc>
                <a:spcPts val="5549"/>
              </a:lnSpc>
              <a:buFont typeface="Arial"/>
              <a:buChar char="•"/>
            </a:pPr>
            <a:r>
              <a:rPr lang="en-US" sz="3699">
                <a:solidFill>
                  <a:srgbClr val="000000"/>
                </a:solidFill>
                <a:latin typeface="Times New Roman"/>
                <a:ea typeface="Times New Roman"/>
                <a:cs typeface="Times New Roman"/>
                <a:sym typeface="Times New Roman"/>
              </a:rPr>
              <a:t>Implement accurate hand landmark detection and gesture recognition for user interaction</a:t>
            </a:r>
          </a:p>
          <a:p>
            <a:pPr algn="l" marL="669137" indent="-334569" lvl="1">
              <a:lnSpc>
                <a:spcPts val="5549"/>
              </a:lnSpc>
              <a:buFont typeface="Arial"/>
              <a:buChar char="•"/>
            </a:pPr>
            <a:r>
              <a:rPr lang="en-US" sz="3699">
                <a:solidFill>
                  <a:srgbClr val="000000"/>
                </a:solidFill>
                <a:latin typeface="Times New Roman"/>
                <a:ea typeface="Times New Roman"/>
                <a:cs typeface="Times New Roman"/>
                <a:sym typeface="Times New Roman"/>
              </a:rPr>
              <a:t>Build an interactive visual interface using OpenCV to display and manage task cards dynamically</a:t>
            </a:r>
          </a:p>
          <a:p>
            <a:pPr algn="l" marL="669137" indent="-334569" lvl="1">
              <a:lnSpc>
                <a:spcPts val="5549"/>
              </a:lnSpc>
              <a:buFont typeface="Arial"/>
              <a:buChar char="•"/>
            </a:pPr>
            <a:r>
              <a:rPr lang="en-US" sz="3699">
                <a:solidFill>
                  <a:srgbClr val="000000"/>
                </a:solidFill>
                <a:latin typeface="Times New Roman"/>
                <a:ea typeface="Times New Roman"/>
                <a:cs typeface="Times New Roman"/>
                <a:sym typeface="Times New Roman"/>
              </a:rPr>
              <a:t>Enable gesture-based drag-and-drop task completion with real-time progress tracking</a:t>
            </a:r>
          </a:p>
          <a:p>
            <a:pPr algn="l" marL="669137" indent="-334569" lvl="1">
              <a:lnSpc>
                <a:spcPts val="5549"/>
              </a:lnSpc>
              <a:buFont typeface="Arial"/>
              <a:buChar char="•"/>
            </a:pPr>
            <a:r>
              <a:rPr lang="en-US" sz="3699">
                <a:solidFill>
                  <a:srgbClr val="000000"/>
                </a:solidFill>
                <a:latin typeface="Times New Roman"/>
                <a:ea typeface="Times New Roman"/>
                <a:cs typeface="Times New Roman"/>
                <a:sym typeface="Times New Roman"/>
              </a:rPr>
              <a:t>Integrate external task data from Excel for dynamic task loading and prioritization</a:t>
            </a:r>
          </a:p>
          <a:p>
            <a:pPr algn="l" marL="669137" indent="-334569" lvl="1">
              <a:lnSpc>
                <a:spcPts val="5549"/>
              </a:lnSpc>
              <a:buFont typeface="Arial"/>
              <a:buChar char="•"/>
            </a:pPr>
            <a:r>
              <a:rPr lang="en-US" sz="3699">
                <a:solidFill>
                  <a:srgbClr val="000000"/>
                </a:solidFill>
                <a:latin typeface="Times New Roman"/>
                <a:ea typeface="Times New Roman"/>
                <a:cs typeface="Times New Roman"/>
                <a:sym typeface="Times New Roman"/>
              </a:rPr>
              <a:t>Demonstrate a touchless human–computer interaction system for intuitive task management</a:t>
            </a:r>
          </a:p>
          <a:p>
            <a:pPr algn="l" marL="669607" indent="-334804" lvl="1">
              <a:lnSpc>
                <a:spcPts val="554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34731"/>
            <a:ext cx="18288000" cy="1326742"/>
            <a:chOff x="0" y="0"/>
            <a:chExt cx="24384000" cy="1768989"/>
          </a:xfrm>
        </p:grpSpPr>
        <p:sp>
          <p:nvSpPr>
            <p:cNvPr name="Freeform 3" id="3"/>
            <p:cNvSpPr/>
            <p:nvPr/>
          </p:nvSpPr>
          <p:spPr>
            <a:xfrm flipH="false" flipV="false" rot="0">
              <a:off x="0" y="0"/>
              <a:ext cx="24384000" cy="1768988"/>
            </a:xfrm>
            <a:custGeom>
              <a:avLst/>
              <a:gdLst/>
              <a:ahLst/>
              <a:cxnLst/>
              <a:rect r="r" b="b" t="t" l="l"/>
              <a:pathLst>
                <a:path h="1768988" w="24384000">
                  <a:moveTo>
                    <a:pt x="0" y="0"/>
                  </a:moveTo>
                  <a:lnTo>
                    <a:pt x="24384000" y="0"/>
                  </a:lnTo>
                  <a:lnTo>
                    <a:pt x="24384000" y="1768988"/>
                  </a:lnTo>
                  <a:lnTo>
                    <a:pt x="0" y="1768988"/>
                  </a:lnTo>
                  <a:close/>
                </a:path>
              </a:pathLst>
            </a:custGeom>
            <a:blipFill>
              <a:blip r:embed="rId2">
                <a:alphaModFix amt="0"/>
              </a:blip>
              <a:stretch>
                <a:fillRect l="0" t="-187820" r="13750" b="-175488"/>
              </a:stretch>
            </a:blipFill>
          </p:spPr>
        </p:sp>
        <p:sp>
          <p:nvSpPr>
            <p:cNvPr name="TextBox 4" id="4"/>
            <p:cNvSpPr txBox="true"/>
            <p:nvPr/>
          </p:nvSpPr>
          <p:spPr>
            <a:xfrm>
              <a:off x="0" y="38100"/>
              <a:ext cx="24384000" cy="1730889"/>
            </a:xfrm>
            <a:prstGeom prst="rect">
              <a:avLst/>
            </a:prstGeom>
          </p:spPr>
          <p:txBody>
            <a:bodyPr anchor="ctr" rtlCol="false" tIns="0" lIns="0" bIns="0" rIns="0"/>
            <a:lstStyle/>
            <a:p>
              <a:pPr algn="ctr">
                <a:lnSpc>
                  <a:spcPts val="7128"/>
                </a:lnSpc>
              </a:pPr>
              <a:r>
                <a:rPr lang="en-US" b="true" sz="6600" spc="-15">
                  <a:solidFill>
                    <a:srgbClr val="FF0000"/>
                  </a:solidFill>
                  <a:latin typeface="Times New Roman Bold"/>
                  <a:ea typeface="Times New Roman Bold"/>
                  <a:cs typeface="Times New Roman Bold"/>
                  <a:sym typeface="Times New Roman Bold"/>
                </a:rPr>
                <a:t>Technologies Used:</a:t>
              </a:r>
            </a:p>
          </p:txBody>
        </p:sp>
      </p:grpSp>
      <p:sp>
        <p:nvSpPr>
          <p:cNvPr name="Freeform 5" id="5"/>
          <p:cNvSpPr/>
          <p:nvPr/>
        </p:nvSpPr>
        <p:spPr>
          <a:xfrm flipH="false" flipV="false" rot="0">
            <a:off x="0" y="1961713"/>
            <a:ext cx="18288000" cy="6811740"/>
          </a:xfrm>
          <a:custGeom>
            <a:avLst/>
            <a:gdLst/>
            <a:ahLst/>
            <a:cxnLst/>
            <a:rect r="r" b="b" t="t" l="l"/>
            <a:pathLst>
              <a:path h="6811740" w="18288000">
                <a:moveTo>
                  <a:pt x="0" y="0"/>
                </a:moveTo>
                <a:lnTo>
                  <a:pt x="18288000" y="0"/>
                </a:lnTo>
                <a:lnTo>
                  <a:pt x="18288000" y="6811740"/>
                </a:lnTo>
                <a:lnTo>
                  <a:pt x="0" y="6811740"/>
                </a:lnTo>
                <a:lnTo>
                  <a:pt x="0" y="0"/>
                </a:lnTo>
                <a:close/>
              </a:path>
            </a:pathLst>
          </a:custGeom>
          <a:blipFill>
            <a:blip r:embed="rId3"/>
            <a:stretch>
              <a:fillRect l="0" t="0" r="0" b="-1014"/>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65329"/>
            <a:ext cx="8775243" cy="1326742"/>
            <a:chOff x="0" y="0"/>
            <a:chExt cx="11700324" cy="1768989"/>
          </a:xfrm>
        </p:grpSpPr>
        <p:sp>
          <p:nvSpPr>
            <p:cNvPr name="Freeform 3" id="3"/>
            <p:cNvSpPr/>
            <p:nvPr/>
          </p:nvSpPr>
          <p:spPr>
            <a:xfrm flipH="false" flipV="false" rot="0">
              <a:off x="0" y="0"/>
              <a:ext cx="11700324" cy="1768980"/>
            </a:xfrm>
            <a:custGeom>
              <a:avLst/>
              <a:gdLst/>
              <a:ahLst/>
              <a:cxnLst/>
              <a:rect r="r" b="b" t="t" l="l"/>
              <a:pathLst>
                <a:path h="1768980" w="11700324">
                  <a:moveTo>
                    <a:pt x="0" y="0"/>
                  </a:moveTo>
                  <a:lnTo>
                    <a:pt x="11700324" y="0"/>
                  </a:lnTo>
                  <a:lnTo>
                    <a:pt x="11700324" y="1768980"/>
                  </a:lnTo>
                  <a:lnTo>
                    <a:pt x="0" y="1768980"/>
                  </a:lnTo>
                  <a:close/>
                </a:path>
              </a:pathLst>
            </a:custGeom>
            <a:blipFill>
              <a:blip r:embed="rId3">
                <a:alphaModFix amt="0"/>
              </a:blip>
              <a:stretch>
                <a:fillRect l="0" t="-196132" r="-79748" b="-167178"/>
              </a:stretch>
            </a:blipFill>
          </p:spPr>
        </p:sp>
        <p:sp>
          <p:nvSpPr>
            <p:cNvPr name="TextBox 4" id="4"/>
            <p:cNvSpPr txBox="true"/>
            <p:nvPr/>
          </p:nvSpPr>
          <p:spPr>
            <a:xfrm>
              <a:off x="0" y="38100"/>
              <a:ext cx="11700324" cy="1730889"/>
            </a:xfrm>
            <a:prstGeom prst="rect">
              <a:avLst/>
            </a:prstGeom>
          </p:spPr>
          <p:txBody>
            <a:bodyPr anchor="ctr" rtlCol="false" tIns="0" lIns="0" bIns="0" rIns="0"/>
            <a:lstStyle/>
            <a:p>
              <a:pPr algn="ctr">
                <a:lnSpc>
                  <a:spcPts val="7128"/>
                </a:lnSpc>
              </a:pPr>
              <a:r>
                <a:rPr lang="en-US" sz="6600" b="true">
                  <a:solidFill>
                    <a:srgbClr val="FF0000"/>
                  </a:solidFill>
                  <a:latin typeface="Times New Roman Bold"/>
                  <a:ea typeface="Times New Roman Bold"/>
                  <a:cs typeface="Times New Roman Bold"/>
                  <a:sym typeface="Times New Roman Bold"/>
                </a:rPr>
                <a:t>System Architecture</a:t>
              </a:r>
            </a:p>
          </p:txBody>
        </p:sp>
      </p:grpSp>
      <p:sp>
        <p:nvSpPr>
          <p:cNvPr name="TextBox 5" id="5"/>
          <p:cNvSpPr txBox="true"/>
          <p:nvPr/>
        </p:nvSpPr>
        <p:spPr>
          <a:xfrm rot="0">
            <a:off x="256719" y="1831974"/>
            <a:ext cx="17774562" cy="7426326"/>
          </a:xfrm>
          <a:prstGeom prst="rect">
            <a:avLst/>
          </a:prstGeom>
        </p:spPr>
        <p:txBody>
          <a:bodyPr anchor="t" rtlCol="false" tIns="0" lIns="0" bIns="0" rIns="0">
            <a:spAutoFit/>
          </a:bodyPr>
          <a:lstStyle/>
          <a:p>
            <a:pPr algn="l" marL="755644" indent="-377822" lvl="1">
              <a:lnSpc>
                <a:spcPts val="4899"/>
              </a:lnSpc>
              <a:buFont typeface="Arial"/>
              <a:buChar char="•"/>
            </a:pPr>
            <a:r>
              <a:rPr lang="en-US" b="true" sz="3499">
                <a:solidFill>
                  <a:srgbClr val="000000"/>
                </a:solidFill>
                <a:latin typeface="Arimo Bold"/>
                <a:ea typeface="Arimo Bold"/>
                <a:cs typeface="Arimo Bold"/>
                <a:sym typeface="Arimo Bold"/>
              </a:rPr>
              <a:t>Input Layer:</a:t>
            </a:r>
            <a:r>
              <a:rPr lang="en-US" sz="3499">
                <a:solidFill>
                  <a:srgbClr val="000000"/>
                </a:solidFill>
                <a:latin typeface="Arimo"/>
                <a:ea typeface="Arimo"/>
                <a:cs typeface="Arimo"/>
                <a:sym typeface="Arimo"/>
              </a:rPr>
              <a:t> The webcam captures video using </a:t>
            </a:r>
            <a:r>
              <a:rPr lang="en-US" b="true" sz="3499">
                <a:solidFill>
                  <a:srgbClr val="000000"/>
                </a:solidFill>
                <a:latin typeface="Arimo Bold"/>
                <a:ea typeface="Arimo Bold"/>
                <a:cs typeface="Arimo Bold"/>
                <a:sym typeface="Arimo Bold"/>
              </a:rPr>
              <a:t>OpenCV</a:t>
            </a:r>
            <a:r>
              <a:rPr lang="en-US" sz="3499">
                <a:solidFill>
                  <a:srgbClr val="000000"/>
                </a:solidFill>
                <a:latin typeface="Arimo"/>
                <a:ea typeface="Arimo"/>
                <a:cs typeface="Arimo"/>
                <a:sym typeface="Arimo"/>
              </a:rPr>
              <a:t>.</a:t>
            </a:r>
          </a:p>
          <a:p>
            <a:pPr algn="l" marL="755644" indent="-377822" lvl="1">
              <a:lnSpc>
                <a:spcPts val="4899"/>
              </a:lnSpc>
              <a:buFont typeface="Arial"/>
              <a:buChar char="•"/>
            </a:pPr>
            <a:r>
              <a:rPr lang="en-US" b="true" sz="3499">
                <a:solidFill>
                  <a:srgbClr val="000000"/>
                </a:solidFill>
                <a:latin typeface="Arimo Bold"/>
                <a:ea typeface="Arimo Bold"/>
                <a:cs typeface="Arimo Bold"/>
                <a:sym typeface="Arimo Bold"/>
              </a:rPr>
              <a:t>Computer Vision Layer:</a:t>
            </a:r>
            <a:r>
              <a:rPr lang="en-US" sz="3499">
                <a:solidFill>
                  <a:srgbClr val="000000"/>
                </a:solidFill>
                <a:latin typeface="Arimo"/>
                <a:ea typeface="Arimo"/>
                <a:cs typeface="Arimo"/>
                <a:sym typeface="Arimo"/>
              </a:rPr>
              <a:t> </a:t>
            </a:r>
            <a:r>
              <a:rPr lang="en-US" b="true" sz="3499">
                <a:solidFill>
                  <a:srgbClr val="000000"/>
                </a:solidFill>
                <a:latin typeface="Arimo Bold"/>
                <a:ea typeface="Arimo Bold"/>
                <a:cs typeface="Arimo Bold"/>
                <a:sym typeface="Arimo Bold"/>
              </a:rPr>
              <a:t>CVZone</a:t>
            </a:r>
            <a:r>
              <a:rPr lang="en-US" sz="3499">
                <a:solidFill>
                  <a:srgbClr val="000000"/>
                </a:solidFill>
                <a:latin typeface="Arimo"/>
                <a:ea typeface="Arimo"/>
                <a:cs typeface="Arimo"/>
                <a:sym typeface="Arimo"/>
              </a:rPr>
              <a:t> and </a:t>
            </a:r>
            <a:r>
              <a:rPr lang="en-US" b="true" sz="3499">
                <a:solidFill>
                  <a:srgbClr val="000000"/>
                </a:solidFill>
                <a:latin typeface="Arimo Bold"/>
                <a:ea typeface="Arimo Bold"/>
                <a:cs typeface="Arimo Bold"/>
                <a:sym typeface="Arimo Bold"/>
              </a:rPr>
              <a:t>MediaPipe</a:t>
            </a:r>
            <a:r>
              <a:rPr lang="en-US" sz="3499">
                <a:solidFill>
                  <a:srgbClr val="000000"/>
                </a:solidFill>
                <a:latin typeface="Arimo"/>
                <a:ea typeface="Arimo"/>
                <a:cs typeface="Arimo"/>
                <a:sym typeface="Arimo"/>
              </a:rPr>
              <a:t> detect the hand and track finger landmarks.</a:t>
            </a:r>
          </a:p>
          <a:p>
            <a:pPr algn="l" marL="755644" indent="-377822" lvl="1">
              <a:lnSpc>
                <a:spcPts val="4899"/>
              </a:lnSpc>
              <a:buFont typeface="Arial"/>
              <a:buChar char="•"/>
            </a:pPr>
            <a:r>
              <a:rPr lang="en-US" b="true" sz="3499">
                <a:solidFill>
                  <a:srgbClr val="000000"/>
                </a:solidFill>
                <a:latin typeface="Arimo Bold"/>
                <a:ea typeface="Arimo Bold"/>
                <a:cs typeface="Arimo Bold"/>
                <a:sym typeface="Arimo Bold"/>
              </a:rPr>
              <a:t>Gesture Recognition Layer:</a:t>
            </a:r>
            <a:r>
              <a:rPr lang="en-US" sz="3499">
                <a:solidFill>
                  <a:srgbClr val="000000"/>
                </a:solidFill>
                <a:latin typeface="Arimo"/>
                <a:ea typeface="Arimo"/>
                <a:cs typeface="Arimo"/>
                <a:sym typeface="Arimo"/>
              </a:rPr>
              <a:t> The system interprets gestures like </a:t>
            </a:r>
            <a:r>
              <a:rPr lang="en-US" b="true" sz="3499">
                <a:solidFill>
                  <a:srgbClr val="000000"/>
                </a:solidFill>
                <a:latin typeface="Arimo Bold"/>
                <a:ea typeface="Arimo Bold"/>
                <a:cs typeface="Arimo Bold"/>
                <a:sym typeface="Arimo Bold"/>
              </a:rPr>
              <a:t>cursor movement (index finger)</a:t>
            </a:r>
            <a:r>
              <a:rPr lang="en-US" sz="3499">
                <a:solidFill>
                  <a:srgbClr val="000000"/>
                </a:solidFill>
                <a:latin typeface="Arimo"/>
                <a:ea typeface="Arimo"/>
                <a:cs typeface="Arimo"/>
                <a:sym typeface="Arimo"/>
              </a:rPr>
              <a:t>, </a:t>
            </a:r>
            <a:r>
              <a:rPr lang="en-US" b="true" sz="3499">
                <a:solidFill>
                  <a:srgbClr val="000000"/>
                </a:solidFill>
                <a:latin typeface="Arimo Bold"/>
                <a:ea typeface="Arimo Bold"/>
                <a:cs typeface="Arimo Bold"/>
                <a:sym typeface="Arimo Bold"/>
              </a:rPr>
              <a:t>pinch (index + middle)</a:t>
            </a:r>
            <a:r>
              <a:rPr lang="en-US" sz="3499">
                <a:solidFill>
                  <a:srgbClr val="000000"/>
                </a:solidFill>
                <a:latin typeface="Arimo"/>
                <a:ea typeface="Arimo"/>
                <a:cs typeface="Arimo"/>
                <a:sym typeface="Arimo"/>
              </a:rPr>
              <a:t>, and </a:t>
            </a:r>
            <a:r>
              <a:rPr lang="en-US" b="true" sz="3499">
                <a:solidFill>
                  <a:srgbClr val="000000"/>
                </a:solidFill>
                <a:latin typeface="Arimo Bold"/>
                <a:ea typeface="Arimo Bold"/>
                <a:cs typeface="Arimo Bold"/>
                <a:sym typeface="Arimo Bold"/>
              </a:rPr>
              <a:t>triple pinch (index + middle + thumb)</a:t>
            </a:r>
          </a:p>
          <a:p>
            <a:pPr algn="l" marL="755644" indent="-377822" lvl="1">
              <a:lnSpc>
                <a:spcPts val="4899"/>
              </a:lnSpc>
              <a:buFont typeface="Arial"/>
              <a:buChar char="•"/>
            </a:pPr>
            <a:r>
              <a:rPr lang="en-US" b="true" sz="3499">
                <a:solidFill>
                  <a:srgbClr val="000000"/>
                </a:solidFill>
                <a:latin typeface="Arimo Bold"/>
                <a:ea typeface="Arimo Bold"/>
                <a:cs typeface="Arimo Bold"/>
                <a:sym typeface="Arimo Bold"/>
              </a:rPr>
              <a:t>Application Logic Layer:</a:t>
            </a:r>
            <a:r>
              <a:rPr lang="en-US" sz="3499">
                <a:solidFill>
                  <a:srgbClr val="000000"/>
                </a:solidFill>
                <a:latin typeface="Arimo"/>
                <a:ea typeface="Arimo"/>
                <a:cs typeface="Arimo"/>
                <a:sym typeface="Arimo"/>
              </a:rPr>
              <a:t> A </a:t>
            </a:r>
            <a:r>
              <a:rPr lang="en-US" b="true" sz="3499">
                <a:solidFill>
                  <a:srgbClr val="000000"/>
                </a:solidFill>
                <a:latin typeface="Arimo Bold"/>
                <a:ea typeface="Arimo Bold"/>
                <a:cs typeface="Arimo Bold"/>
                <a:sym typeface="Arimo Bold"/>
              </a:rPr>
              <a:t>Task Manager</a:t>
            </a:r>
            <a:r>
              <a:rPr lang="en-US" sz="3499">
                <a:solidFill>
                  <a:srgbClr val="000000"/>
                </a:solidFill>
                <a:latin typeface="Arimo"/>
                <a:ea typeface="Arimo"/>
                <a:cs typeface="Arimo"/>
                <a:sym typeface="Arimo"/>
              </a:rPr>
              <a:t> processes gestures to perform actions such as </a:t>
            </a:r>
            <a:r>
              <a:rPr lang="en-US" b="true" sz="3499">
                <a:solidFill>
                  <a:srgbClr val="000000"/>
                </a:solidFill>
                <a:latin typeface="Arimo Bold"/>
                <a:ea typeface="Arimo Bold"/>
                <a:cs typeface="Arimo Bold"/>
                <a:sym typeface="Arimo Bold"/>
              </a:rPr>
              <a:t>drag &amp; drop tasks, filtering tasks, and marking tasks as complete</a:t>
            </a:r>
            <a:r>
              <a:rPr lang="en-US" sz="3499">
                <a:solidFill>
                  <a:srgbClr val="000000"/>
                </a:solidFill>
                <a:latin typeface="Arimo"/>
                <a:ea typeface="Arimo"/>
                <a:cs typeface="Arimo"/>
                <a:sym typeface="Arimo"/>
              </a:rPr>
              <a:t>.</a:t>
            </a:r>
          </a:p>
          <a:p>
            <a:pPr algn="l" marL="755644" indent="-377822" lvl="1">
              <a:lnSpc>
                <a:spcPts val="4899"/>
              </a:lnSpc>
              <a:buFont typeface="Arial"/>
              <a:buChar char="•"/>
            </a:pPr>
            <a:r>
              <a:rPr lang="en-US" b="true" sz="3499">
                <a:solidFill>
                  <a:srgbClr val="000000"/>
                </a:solidFill>
                <a:latin typeface="Arimo Bold"/>
                <a:ea typeface="Arimo Bold"/>
                <a:cs typeface="Arimo Bold"/>
                <a:sym typeface="Arimo Bold"/>
              </a:rPr>
              <a:t>Data Layer:</a:t>
            </a:r>
            <a:r>
              <a:rPr lang="en-US" sz="3499">
                <a:solidFill>
                  <a:srgbClr val="000000"/>
                </a:solidFill>
                <a:latin typeface="Arimo"/>
                <a:ea typeface="Arimo"/>
                <a:cs typeface="Arimo"/>
                <a:sym typeface="Arimo"/>
              </a:rPr>
              <a:t> Tasks are stored in an </a:t>
            </a:r>
            <a:r>
              <a:rPr lang="en-US" b="true" sz="3499">
                <a:solidFill>
                  <a:srgbClr val="000000"/>
                </a:solidFill>
                <a:latin typeface="Arimo Bold"/>
                <a:ea typeface="Arimo Bold"/>
                <a:cs typeface="Arimo Bold"/>
                <a:sym typeface="Arimo Bold"/>
              </a:rPr>
              <a:t>Excel (.xlsx) file</a:t>
            </a:r>
            <a:r>
              <a:rPr lang="en-US" sz="3499">
                <a:solidFill>
                  <a:srgbClr val="000000"/>
                </a:solidFill>
                <a:latin typeface="Arimo"/>
                <a:ea typeface="Arimo"/>
                <a:cs typeface="Arimo"/>
                <a:sym typeface="Arimo"/>
              </a:rPr>
              <a:t> and converted into Python task objects.</a:t>
            </a:r>
          </a:p>
          <a:p>
            <a:pPr algn="l" marL="755644" indent="-377822" lvl="1">
              <a:lnSpc>
                <a:spcPts val="4899"/>
              </a:lnSpc>
              <a:buFont typeface="Arial"/>
              <a:buChar char="•"/>
            </a:pPr>
            <a:r>
              <a:rPr lang="en-US" b="true" sz="3499">
                <a:solidFill>
                  <a:srgbClr val="000000"/>
                </a:solidFill>
                <a:latin typeface="Arimo Bold"/>
                <a:ea typeface="Arimo Bold"/>
                <a:cs typeface="Arimo Bold"/>
                <a:sym typeface="Arimo Bold"/>
              </a:rPr>
              <a:t>Dashboard Rendering Layer:</a:t>
            </a:r>
            <a:r>
              <a:rPr lang="en-US" sz="3499">
                <a:solidFill>
                  <a:srgbClr val="000000"/>
                </a:solidFill>
                <a:latin typeface="Arimo"/>
                <a:ea typeface="Arimo"/>
                <a:cs typeface="Arimo"/>
                <a:sym typeface="Arimo"/>
              </a:rPr>
              <a:t> The UI displays </a:t>
            </a:r>
            <a:r>
              <a:rPr lang="en-US" b="true" sz="3499">
                <a:solidFill>
                  <a:srgbClr val="000000"/>
                </a:solidFill>
                <a:latin typeface="Arimo Bold"/>
                <a:ea typeface="Arimo Bold"/>
                <a:cs typeface="Arimo Bold"/>
                <a:sym typeface="Arimo Bold"/>
              </a:rPr>
              <a:t>task cards, progress bars, completion feedback, popups, and celebration animations</a:t>
            </a:r>
            <a:r>
              <a:rPr lang="en-US" sz="3499">
                <a:solidFill>
                  <a:srgbClr val="000000"/>
                </a:solidFill>
                <a:latin typeface="Arimo"/>
                <a:ea typeface="Arimo"/>
                <a:cs typeface="Arimo"/>
                <a:sym typeface="Arimo"/>
              </a:rPr>
              <a:t> when tasks are finished.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27367"/>
            <a:ext cx="18288000" cy="1202666"/>
            <a:chOff x="0" y="0"/>
            <a:chExt cx="24384000" cy="1603554"/>
          </a:xfrm>
        </p:grpSpPr>
        <p:sp>
          <p:nvSpPr>
            <p:cNvPr name="Freeform 3" id="3"/>
            <p:cNvSpPr/>
            <p:nvPr/>
          </p:nvSpPr>
          <p:spPr>
            <a:xfrm flipH="false" flipV="false" rot="0">
              <a:off x="0" y="0"/>
              <a:ext cx="24383992" cy="1603555"/>
            </a:xfrm>
            <a:custGeom>
              <a:avLst/>
              <a:gdLst/>
              <a:ahLst/>
              <a:cxnLst/>
              <a:rect r="r" b="b" t="t" l="l"/>
              <a:pathLst>
                <a:path h="1603555" w="24383992">
                  <a:moveTo>
                    <a:pt x="0" y="0"/>
                  </a:moveTo>
                  <a:lnTo>
                    <a:pt x="24383992" y="0"/>
                  </a:lnTo>
                  <a:lnTo>
                    <a:pt x="24383992" y="1603555"/>
                  </a:lnTo>
                  <a:lnTo>
                    <a:pt x="0" y="1603555"/>
                  </a:lnTo>
                  <a:close/>
                </a:path>
              </a:pathLst>
            </a:custGeom>
            <a:blipFill>
              <a:blip r:embed="rId3">
                <a:alphaModFix amt="0"/>
              </a:blip>
              <a:stretch>
                <a:fillRect l="0" t="-142700" r="36552" b="-133281"/>
              </a:stretch>
            </a:blipFill>
          </p:spPr>
        </p:sp>
        <p:sp>
          <p:nvSpPr>
            <p:cNvPr name="TextBox 4" id="4"/>
            <p:cNvSpPr txBox="true"/>
            <p:nvPr/>
          </p:nvSpPr>
          <p:spPr>
            <a:xfrm>
              <a:off x="0" y="38100"/>
              <a:ext cx="24384000" cy="1565454"/>
            </a:xfrm>
            <a:prstGeom prst="rect">
              <a:avLst/>
            </a:prstGeom>
          </p:spPr>
          <p:txBody>
            <a:bodyPr anchor="ctr" rtlCol="false" tIns="0" lIns="0" bIns="0" rIns="0"/>
            <a:lstStyle/>
            <a:p>
              <a:pPr algn="ctr">
                <a:lnSpc>
                  <a:spcPts val="6480"/>
                </a:lnSpc>
              </a:pPr>
              <a:r>
                <a:rPr lang="en-US" sz="6000" b="true">
                  <a:solidFill>
                    <a:srgbClr val="FF0000"/>
                  </a:solidFill>
                  <a:latin typeface="Times New Roman Bold"/>
                  <a:ea typeface="Times New Roman Bold"/>
                  <a:cs typeface="Times New Roman Bold"/>
                  <a:sym typeface="Times New Roman Bold"/>
                </a:rPr>
                <a:t>Hand Gesture Detection Mechanism</a:t>
              </a:r>
            </a:p>
          </p:txBody>
        </p:sp>
      </p:grpSp>
      <p:sp>
        <p:nvSpPr>
          <p:cNvPr name="TextBox 5" id="5"/>
          <p:cNvSpPr txBox="true"/>
          <p:nvPr/>
        </p:nvSpPr>
        <p:spPr>
          <a:xfrm rot="0">
            <a:off x="851195" y="2096164"/>
            <a:ext cx="13100757" cy="4045587"/>
          </a:xfrm>
          <a:prstGeom prst="rect">
            <a:avLst/>
          </a:prstGeom>
        </p:spPr>
        <p:txBody>
          <a:bodyPr anchor="t" rtlCol="false" tIns="0" lIns="0" bIns="0" rIns="0">
            <a:spAutoFit/>
          </a:bodyPr>
          <a:lstStyle/>
          <a:p>
            <a:pPr algn="l" marL="993122" indent="-496561" lvl="1">
              <a:lnSpc>
                <a:spcPts val="6439"/>
              </a:lnSpc>
              <a:buFont typeface="Arial"/>
              <a:buChar char="•"/>
            </a:pPr>
            <a:r>
              <a:rPr lang="en-US" b="true" sz="4599">
                <a:solidFill>
                  <a:srgbClr val="000000"/>
                </a:solidFill>
                <a:latin typeface="Arimo Bold"/>
                <a:ea typeface="Arimo Bold"/>
                <a:cs typeface="Arimo Bold"/>
                <a:sym typeface="Arimo Bold"/>
              </a:rPr>
              <a:t>Index + Middle Finger Gesture:</a:t>
            </a:r>
            <a:r>
              <a:rPr lang="en-US" sz="4599">
                <a:solidFill>
                  <a:srgbClr val="000000"/>
                </a:solidFill>
                <a:latin typeface="Arimo"/>
                <a:ea typeface="Arimo"/>
                <a:cs typeface="Arimo"/>
                <a:sym typeface="Arimo"/>
              </a:rPr>
              <a:t> </a:t>
            </a:r>
            <a:r>
              <a:rPr lang="en-US" sz="4599">
                <a:solidFill>
                  <a:srgbClr val="000000"/>
                </a:solidFill>
                <a:latin typeface="Arimo"/>
                <a:ea typeface="Arimo"/>
                <a:cs typeface="Arimo"/>
                <a:sym typeface="Arimo"/>
              </a:rPr>
              <a:t>Used to </a:t>
            </a:r>
            <a:r>
              <a:rPr lang="en-US" b="true" sz="4599">
                <a:solidFill>
                  <a:srgbClr val="000000"/>
                </a:solidFill>
                <a:latin typeface="Arimo Bold"/>
                <a:ea typeface="Arimo Bold"/>
                <a:cs typeface="Arimo Bold"/>
                <a:sym typeface="Arimo Bold"/>
              </a:rPr>
              <a:t>select or drag tasks</a:t>
            </a:r>
            <a:r>
              <a:rPr lang="en-US" sz="4599">
                <a:solidFill>
                  <a:srgbClr val="000000"/>
                </a:solidFill>
                <a:latin typeface="Arimo"/>
                <a:ea typeface="Arimo"/>
                <a:cs typeface="Arimo"/>
                <a:sym typeface="Arimo"/>
              </a:rPr>
              <a:t> on the dashboard.</a:t>
            </a:r>
          </a:p>
          <a:p>
            <a:pPr algn="l" marL="993122" indent="-496561" lvl="1">
              <a:lnSpc>
                <a:spcPts val="6439"/>
              </a:lnSpc>
              <a:buFont typeface="Arial"/>
              <a:buChar char="•"/>
            </a:pPr>
            <a:r>
              <a:rPr lang="en-US" b="true" sz="4599">
                <a:solidFill>
                  <a:srgbClr val="000000"/>
                </a:solidFill>
                <a:latin typeface="Arimo Bold"/>
                <a:ea typeface="Arimo Bold"/>
                <a:cs typeface="Arimo Bold"/>
                <a:sym typeface="Arimo Bold"/>
              </a:rPr>
              <a:t>Triple Pinch Gesture (Index + Middle + Thumb):</a:t>
            </a:r>
            <a:r>
              <a:rPr lang="en-US" sz="4599">
                <a:solidFill>
                  <a:srgbClr val="000000"/>
                </a:solidFill>
                <a:latin typeface="Arimo"/>
                <a:ea typeface="Arimo"/>
                <a:cs typeface="Arimo"/>
                <a:sym typeface="Arimo"/>
              </a:rPr>
              <a:t> Used to </a:t>
            </a:r>
            <a:r>
              <a:rPr lang="en-US" b="true" sz="4599">
                <a:solidFill>
                  <a:srgbClr val="000000"/>
                </a:solidFill>
                <a:latin typeface="Arimo Bold"/>
                <a:ea typeface="Arimo Bold"/>
                <a:cs typeface="Arimo Bold"/>
                <a:sym typeface="Arimo Bold"/>
              </a:rPr>
              <a:t>open and view task details</a:t>
            </a:r>
            <a:r>
              <a:rPr lang="en-US" sz="4599">
                <a:solidFill>
                  <a:srgbClr val="000000"/>
                </a:solidFill>
                <a:latin typeface="Arimo"/>
                <a:ea typeface="Arimo"/>
                <a:cs typeface="Arimo"/>
                <a:sym typeface="Arimo"/>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32736"/>
            <a:ext cx="18288000" cy="1326742"/>
            <a:chOff x="0" y="0"/>
            <a:chExt cx="24384000" cy="1768989"/>
          </a:xfrm>
        </p:grpSpPr>
        <p:sp>
          <p:nvSpPr>
            <p:cNvPr name="Freeform 3" id="3"/>
            <p:cNvSpPr/>
            <p:nvPr/>
          </p:nvSpPr>
          <p:spPr>
            <a:xfrm flipH="false" flipV="false" rot="0">
              <a:off x="0" y="0"/>
              <a:ext cx="24384000" cy="1768986"/>
            </a:xfrm>
            <a:custGeom>
              <a:avLst/>
              <a:gdLst/>
              <a:ahLst/>
              <a:cxnLst/>
              <a:rect r="r" b="b" t="t" l="l"/>
              <a:pathLst>
                <a:path h="1768986" w="24384000">
                  <a:moveTo>
                    <a:pt x="0" y="0"/>
                  </a:moveTo>
                  <a:lnTo>
                    <a:pt x="24384000" y="0"/>
                  </a:lnTo>
                  <a:lnTo>
                    <a:pt x="24384000" y="1768986"/>
                  </a:lnTo>
                  <a:lnTo>
                    <a:pt x="0" y="1768986"/>
                  </a:lnTo>
                  <a:close/>
                </a:path>
              </a:pathLst>
            </a:custGeom>
            <a:blipFill>
              <a:blip r:embed="rId2">
                <a:alphaModFix amt="0"/>
              </a:blip>
              <a:stretch>
                <a:fillRect l="0" t="-61468" r="61179" b="-47063"/>
              </a:stretch>
            </a:blipFill>
          </p:spPr>
        </p:sp>
        <p:sp>
          <p:nvSpPr>
            <p:cNvPr name="TextBox 4" id="4"/>
            <p:cNvSpPr txBox="true"/>
            <p:nvPr/>
          </p:nvSpPr>
          <p:spPr>
            <a:xfrm>
              <a:off x="0" y="38100"/>
              <a:ext cx="24384000" cy="1730889"/>
            </a:xfrm>
            <a:prstGeom prst="rect">
              <a:avLst/>
            </a:prstGeom>
          </p:spPr>
          <p:txBody>
            <a:bodyPr anchor="ctr" rtlCol="false" tIns="0" lIns="0" bIns="0" rIns="0"/>
            <a:lstStyle/>
            <a:p>
              <a:pPr algn="ctr">
                <a:lnSpc>
                  <a:spcPts val="7128"/>
                </a:lnSpc>
              </a:pPr>
              <a:r>
                <a:rPr lang="en-US" b="true" sz="6600" spc="-343">
                  <a:solidFill>
                    <a:srgbClr val="FF0000"/>
                  </a:solidFill>
                  <a:latin typeface="Times New Roman Bold"/>
                  <a:ea typeface="Times New Roman Bold"/>
                  <a:cs typeface="Times New Roman Bold"/>
                  <a:sym typeface="Times New Roman Bold"/>
                </a:rPr>
                <a:t>Key Features:</a:t>
              </a:r>
            </a:p>
          </p:txBody>
        </p:sp>
      </p:grpSp>
      <p:sp>
        <p:nvSpPr>
          <p:cNvPr name="TextBox 5" id="5"/>
          <p:cNvSpPr txBox="true"/>
          <p:nvPr/>
        </p:nvSpPr>
        <p:spPr>
          <a:xfrm rot="0">
            <a:off x="0" y="1359639"/>
            <a:ext cx="18042705" cy="8122557"/>
          </a:xfrm>
          <a:prstGeom prst="rect">
            <a:avLst/>
          </a:prstGeom>
        </p:spPr>
        <p:txBody>
          <a:bodyPr anchor="t" rtlCol="false" tIns="0" lIns="0" bIns="0" rIns="0">
            <a:spAutoFit/>
          </a:bodyPr>
          <a:lstStyle/>
          <a:p>
            <a:pPr algn="l" marL="640282" indent="-320141" lvl="1">
              <a:lnSpc>
                <a:spcPts val="5901"/>
              </a:lnSpc>
              <a:buFont typeface="Arial"/>
              <a:buChar char="•"/>
            </a:pPr>
            <a:r>
              <a:rPr lang="en-US" b="true" sz="2965">
                <a:solidFill>
                  <a:srgbClr val="000000"/>
                </a:solidFill>
                <a:latin typeface="Arimo Bold"/>
                <a:ea typeface="Arimo Bold"/>
                <a:cs typeface="Arimo Bold"/>
                <a:sym typeface="Arimo Bold"/>
              </a:rPr>
              <a:t>Gesture-Based Interaction –</a:t>
            </a:r>
            <a:r>
              <a:rPr lang="en-US" sz="2965">
                <a:solidFill>
                  <a:srgbClr val="000000"/>
                </a:solidFill>
                <a:latin typeface="Arimo"/>
                <a:ea typeface="Arimo"/>
                <a:cs typeface="Arimo"/>
                <a:sym typeface="Arimo"/>
              </a:rPr>
              <a:t> Users can control the dashboard using hand gestures without a mouse or keyboard.</a:t>
            </a:r>
          </a:p>
          <a:p>
            <a:pPr algn="l" marL="640282" indent="-320141" lvl="1">
              <a:lnSpc>
                <a:spcPts val="5901"/>
              </a:lnSpc>
              <a:buFont typeface="Arial"/>
              <a:buChar char="•"/>
            </a:pPr>
            <a:r>
              <a:rPr lang="en-US" b="true" sz="2965">
                <a:solidFill>
                  <a:srgbClr val="000000"/>
                </a:solidFill>
                <a:latin typeface="Arimo Bold"/>
                <a:ea typeface="Arimo Bold"/>
                <a:cs typeface="Arimo Bold"/>
                <a:sym typeface="Arimo Bold"/>
              </a:rPr>
              <a:t>Real-Time Hand Tracking –</a:t>
            </a:r>
            <a:r>
              <a:rPr lang="en-US" sz="2965">
                <a:solidFill>
                  <a:srgbClr val="000000"/>
                </a:solidFill>
                <a:latin typeface="Arimo"/>
                <a:ea typeface="Arimo"/>
                <a:cs typeface="Arimo"/>
                <a:sym typeface="Arimo"/>
              </a:rPr>
              <a:t> MediaPipe detects hand landmarks in real time for accurate gesture recognition.</a:t>
            </a:r>
          </a:p>
          <a:p>
            <a:pPr algn="l" marL="640282" indent="-320141" lvl="1">
              <a:lnSpc>
                <a:spcPts val="5901"/>
              </a:lnSpc>
              <a:buFont typeface="Arial"/>
              <a:buChar char="•"/>
            </a:pPr>
            <a:r>
              <a:rPr lang="en-US" b="true" sz="2965">
                <a:solidFill>
                  <a:srgbClr val="000000"/>
                </a:solidFill>
                <a:latin typeface="Arimo Bold"/>
                <a:ea typeface="Arimo Bold"/>
                <a:cs typeface="Arimo Bold"/>
                <a:sym typeface="Arimo Bold"/>
              </a:rPr>
              <a:t>Interactive Drag-and-Drop Tasks –</a:t>
            </a:r>
            <a:r>
              <a:rPr lang="en-US" sz="2965">
                <a:solidFill>
                  <a:srgbClr val="000000"/>
                </a:solidFill>
                <a:latin typeface="Arimo"/>
                <a:ea typeface="Arimo"/>
                <a:cs typeface="Arimo"/>
                <a:sym typeface="Arimo"/>
              </a:rPr>
              <a:t> Tasks can be selected and moved across the screen using pinch gestures.</a:t>
            </a:r>
          </a:p>
          <a:p>
            <a:pPr algn="l" marL="640282" indent="-320141" lvl="1">
              <a:lnSpc>
                <a:spcPts val="5901"/>
              </a:lnSpc>
              <a:buFont typeface="Arial"/>
              <a:buChar char="•"/>
            </a:pPr>
            <a:r>
              <a:rPr lang="en-US" b="true" sz="2965">
                <a:solidFill>
                  <a:srgbClr val="000000"/>
                </a:solidFill>
                <a:latin typeface="Arimo Bold"/>
                <a:ea typeface="Arimo Bold"/>
                <a:cs typeface="Arimo Bold"/>
                <a:sym typeface="Arimo Bold"/>
              </a:rPr>
              <a:t>Task Prioritization System –</a:t>
            </a:r>
            <a:r>
              <a:rPr lang="en-US" sz="2965">
                <a:solidFill>
                  <a:srgbClr val="000000"/>
                </a:solidFill>
                <a:latin typeface="Arimo"/>
                <a:ea typeface="Arimo"/>
                <a:cs typeface="Arimo"/>
                <a:sym typeface="Arimo"/>
              </a:rPr>
              <a:t> Tasks are categorized as Normal, Medium, or High importance for better organization.</a:t>
            </a:r>
          </a:p>
          <a:p>
            <a:pPr algn="l" marL="640282" indent="-320141" lvl="1">
              <a:lnSpc>
                <a:spcPts val="5901"/>
              </a:lnSpc>
              <a:buFont typeface="Arial"/>
              <a:buChar char="•"/>
            </a:pPr>
            <a:r>
              <a:rPr lang="en-US" b="true" sz="2965">
                <a:solidFill>
                  <a:srgbClr val="000000"/>
                </a:solidFill>
                <a:latin typeface="Arimo Bold"/>
                <a:ea typeface="Arimo Bold"/>
                <a:cs typeface="Arimo Bold"/>
                <a:sym typeface="Arimo Bold"/>
              </a:rPr>
              <a:t>Dynamic Progress Tracking –</a:t>
            </a:r>
            <a:r>
              <a:rPr lang="en-US" sz="2965">
                <a:solidFill>
                  <a:srgbClr val="000000"/>
                </a:solidFill>
                <a:latin typeface="Arimo"/>
                <a:ea typeface="Arimo"/>
                <a:cs typeface="Arimo"/>
                <a:sym typeface="Arimo"/>
              </a:rPr>
              <a:t> A visual progress bar updates automatically as tasks are completed.</a:t>
            </a:r>
          </a:p>
          <a:p>
            <a:pPr algn="l" marL="640282" indent="-320141" lvl="1">
              <a:lnSpc>
                <a:spcPts val="5901"/>
              </a:lnSpc>
              <a:buFont typeface="Arial"/>
              <a:buChar char="•"/>
            </a:pPr>
            <a:r>
              <a:rPr lang="en-US" b="true" sz="2965">
                <a:solidFill>
                  <a:srgbClr val="000000"/>
                </a:solidFill>
                <a:latin typeface="Arimo Bold"/>
                <a:ea typeface="Arimo Bold"/>
                <a:cs typeface="Arimo Bold"/>
                <a:sym typeface="Arimo Bold"/>
              </a:rPr>
              <a:t>Gamified Feedback System –</a:t>
            </a:r>
            <a:r>
              <a:rPr lang="en-US" sz="2965">
                <a:solidFill>
                  <a:srgbClr val="000000"/>
                </a:solidFill>
                <a:latin typeface="Arimo"/>
                <a:ea typeface="Arimo"/>
                <a:cs typeface="Arimo"/>
                <a:sym typeface="Arimo"/>
              </a:rPr>
              <a:t> Completion animations and celebration effects enhance user engagement.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54859"/>
            <a:ext cx="18288000" cy="1326742"/>
            <a:chOff x="0" y="0"/>
            <a:chExt cx="24384000" cy="1768989"/>
          </a:xfrm>
        </p:grpSpPr>
        <p:sp>
          <p:nvSpPr>
            <p:cNvPr name="Freeform 3" id="3"/>
            <p:cNvSpPr/>
            <p:nvPr/>
          </p:nvSpPr>
          <p:spPr>
            <a:xfrm flipH="false" flipV="false" rot="0">
              <a:off x="0" y="0"/>
              <a:ext cx="24384000" cy="1768986"/>
            </a:xfrm>
            <a:custGeom>
              <a:avLst/>
              <a:gdLst/>
              <a:ahLst/>
              <a:cxnLst/>
              <a:rect r="r" b="b" t="t" l="l"/>
              <a:pathLst>
                <a:path h="1768986" w="24384000">
                  <a:moveTo>
                    <a:pt x="0" y="0"/>
                  </a:moveTo>
                  <a:lnTo>
                    <a:pt x="24384000" y="0"/>
                  </a:lnTo>
                  <a:lnTo>
                    <a:pt x="24384000" y="1768986"/>
                  </a:lnTo>
                  <a:lnTo>
                    <a:pt x="0" y="1768986"/>
                  </a:lnTo>
                  <a:close/>
                </a:path>
              </a:pathLst>
            </a:custGeom>
            <a:blipFill>
              <a:blip r:embed="rId2">
                <a:alphaModFix amt="0"/>
              </a:blip>
              <a:stretch>
                <a:fillRect l="0" t="-61468" r="61179" b="-47063"/>
              </a:stretch>
            </a:blipFill>
          </p:spPr>
        </p:sp>
        <p:sp>
          <p:nvSpPr>
            <p:cNvPr name="TextBox 4" id="4"/>
            <p:cNvSpPr txBox="true"/>
            <p:nvPr/>
          </p:nvSpPr>
          <p:spPr>
            <a:xfrm>
              <a:off x="0" y="38100"/>
              <a:ext cx="24384000" cy="1730889"/>
            </a:xfrm>
            <a:prstGeom prst="rect">
              <a:avLst/>
            </a:prstGeom>
          </p:spPr>
          <p:txBody>
            <a:bodyPr anchor="ctr" rtlCol="false" tIns="0" lIns="0" bIns="0" rIns="0"/>
            <a:lstStyle/>
            <a:p>
              <a:pPr algn="ctr">
                <a:lnSpc>
                  <a:spcPts val="7128"/>
                </a:lnSpc>
              </a:pPr>
              <a:r>
                <a:rPr lang="en-US" b="true" sz="6600" spc="-343">
                  <a:solidFill>
                    <a:srgbClr val="FF0000"/>
                  </a:solidFill>
                  <a:latin typeface="Times New Roman Bold"/>
                  <a:ea typeface="Times New Roman Bold"/>
                  <a:cs typeface="Times New Roman Bold"/>
                  <a:sym typeface="Times New Roman Bold"/>
                </a:rPr>
                <a:t>Challenges :</a:t>
              </a:r>
            </a:p>
          </p:txBody>
        </p:sp>
      </p:grpSp>
      <p:sp>
        <p:nvSpPr>
          <p:cNvPr name="TextBox 5" id="5"/>
          <p:cNvSpPr txBox="true"/>
          <p:nvPr/>
        </p:nvSpPr>
        <p:spPr>
          <a:xfrm rot="0">
            <a:off x="500746" y="1105208"/>
            <a:ext cx="17223130" cy="8739927"/>
          </a:xfrm>
          <a:prstGeom prst="rect">
            <a:avLst/>
          </a:prstGeom>
        </p:spPr>
        <p:txBody>
          <a:bodyPr anchor="t" rtlCol="false" tIns="0" lIns="0" bIns="0" rIns="0">
            <a:spAutoFit/>
          </a:bodyPr>
          <a:lstStyle/>
          <a:p>
            <a:pPr algn="l" marL="600936" indent="-300468" lvl="1">
              <a:lnSpc>
                <a:spcPts val="3896"/>
              </a:lnSpc>
              <a:buFont typeface="Arial"/>
              <a:buChar char="•"/>
            </a:pPr>
            <a:r>
              <a:rPr lang="en-US" b="true" sz="2783">
                <a:solidFill>
                  <a:srgbClr val="000000"/>
                </a:solidFill>
                <a:latin typeface="Arimo Bold"/>
                <a:ea typeface="Arimo Bold"/>
                <a:cs typeface="Arimo Bold"/>
                <a:sym typeface="Arimo Bold"/>
              </a:rPr>
              <a:t>Raw Data Jitter:</a:t>
            </a:r>
            <a:r>
              <a:rPr lang="en-US" b="true" sz="2783">
                <a:solidFill>
                  <a:srgbClr val="000000"/>
                </a:solidFill>
                <a:latin typeface="Arimo Bold"/>
                <a:ea typeface="Arimo Bold"/>
                <a:cs typeface="Arimo Bold"/>
                <a:sym typeface="Arimo Bold"/>
              </a:rPr>
              <a:t> </a:t>
            </a:r>
          </a:p>
          <a:p>
            <a:pPr algn="l">
              <a:lnSpc>
                <a:spcPts val="3896"/>
              </a:lnSpc>
            </a:pPr>
            <a:r>
              <a:rPr lang="en-US" sz="2783" b="true">
                <a:solidFill>
                  <a:srgbClr val="000000"/>
                </a:solidFill>
                <a:latin typeface="Arimo Bold"/>
                <a:ea typeface="Arimo Bold"/>
                <a:cs typeface="Arimo Bold"/>
                <a:sym typeface="Arimo Bold"/>
              </a:rPr>
              <a:t>Challenge: </a:t>
            </a:r>
            <a:r>
              <a:rPr lang="en-US" sz="2783">
                <a:solidFill>
                  <a:srgbClr val="000000"/>
                </a:solidFill>
                <a:latin typeface="Arimo"/>
                <a:ea typeface="Arimo"/>
                <a:cs typeface="Arimo"/>
                <a:sym typeface="Arimo"/>
              </a:rPr>
              <a:t>Raw hand landmark coordinates from the webcam are naturally unstable, leading to a "shaking" cursor.</a:t>
            </a:r>
          </a:p>
          <a:p>
            <a:pPr algn="l">
              <a:lnSpc>
                <a:spcPts val="3896"/>
              </a:lnSpc>
            </a:pPr>
          </a:p>
          <a:p>
            <a:pPr algn="l" marL="600936" indent="-300468" lvl="1">
              <a:lnSpc>
                <a:spcPts val="3896"/>
              </a:lnSpc>
              <a:buFont typeface="Arial"/>
              <a:buChar char="•"/>
            </a:pPr>
            <a:r>
              <a:rPr lang="en-US" b="true" sz="2783">
                <a:solidFill>
                  <a:srgbClr val="000000"/>
                </a:solidFill>
                <a:latin typeface="Arimo Bold"/>
                <a:ea typeface="Arimo Bold"/>
                <a:cs typeface="Arimo Bold"/>
                <a:sym typeface="Arimo Bold"/>
              </a:rPr>
              <a:t>Coordinate Mirroring &amp; Mapping:</a:t>
            </a:r>
          </a:p>
          <a:p>
            <a:pPr algn="l">
              <a:lnSpc>
                <a:spcPts val="3896"/>
              </a:lnSpc>
            </a:pPr>
            <a:r>
              <a:rPr lang="en-US" sz="2783" b="true">
                <a:solidFill>
                  <a:srgbClr val="000000"/>
                </a:solidFill>
                <a:latin typeface="Arimo Bold"/>
                <a:ea typeface="Arimo Bold"/>
                <a:cs typeface="Arimo Bold"/>
                <a:sym typeface="Arimo Bold"/>
              </a:rPr>
              <a:t>Challenge: </a:t>
            </a:r>
            <a:r>
              <a:rPr lang="en-US" sz="2783">
                <a:solidFill>
                  <a:srgbClr val="000000"/>
                </a:solidFill>
                <a:latin typeface="Arimo"/>
                <a:ea typeface="Arimo"/>
                <a:cs typeface="Arimo"/>
                <a:sym typeface="Arimo"/>
              </a:rPr>
              <a:t>Standard webcam feeds are inverted, making natural "left-to-right" navigation counter-intuitive for the user.</a:t>
            </a:r>
          </a:p>
          <a:p>
            <a:pPr algn="l">
              <a:lnSpc>
                <a:spcPts val="3896"/>
              </a:lnSpc>
            </a:pPr>
          </a:p>
          <a:p>
            <a:pPr algn="l" marL="600936" indent="-300468" lvl="1">
              <a:lnSpc>
                <a:spcPts val="3896"/>
              </a:lnSpc>
              <a:buFont typeface="Arial"/>
              <a:buChar char="•"/>
            </a:pPr>
            <a:r>
              <a:rPr lang="en-US" b="true" sz="2783">
                <a:solidFill>
                  <a:srgbClr val="000000"/>
                </a:solidFill>
                <a:latin typeface="Arimo Bold"/>
                <a:ea typeface="Arimo Bold"/>
                <a:cs typeface="Arimo Bold"/>
                <a:sym typeface="Arimo Bold"/>
              </a:rPr>
              <a:t>Gesture Collision Sensitivity:</a:t>
            </a:r>
          </a:p>
          <a:p>
            <a:pPr algn="l">
              <a:lnSpc>
                <a:spcPts val="3896"/>
              </a:lnSpc>
            </a:pPr>
            <a:r>
              <a:rPr lang="en-US" sz="2783" b="true">
                <a:solidFill>
                  <a:srgbClr val="000000"/>
                </a:solidFill>
                <a:latin typeface="Arimo Bold"/>
                <a:ea typeface="Arimo Bold"/>
                <a:cs typeface="Arimo Bold"/>
                <a:sym typeface="Arimo Bold"/>
              </a:rPr>
              <a:t>Challenge: </a:t>
            </a:r>
            <a:r>
              <a:rPr lang="en-US" sz="2783">
                <a:solidFill>
                  <a:srgbClr val="000000"/>
                </a:solidFill>
                <a:latin typeface="Arimo"/>
                <a:ea typeface="Arimo"/>
                <a:cs typeface="Arimo"/>
                <a:sym typeface="Arimo"/>
              </a:rPr>
              <a:t>Defining the exact Euclidean distance threshold for a "pinch" that works for different hand sizes and distances from the camera.</a:t>
            </a:r>
          </a:p>
          <a:p>
            <a:pPr algn="l">
              <a:lnSpc>
                <a:spcPts val="3896"/>
              </a:lnSpc>
            </a:pPr>
          </a:p>
          <a:p>
            <a:pPr algn="l" marL="600936" indent="-300468" lvl="1">
              <a:lnSpc>
                <a:spcPts val="3896"/>
              </a:lnSpc>
              <a:buFont typeface="Arial"/>
              <a:buChar char="•"/>
            </a:pPr>
            <a:r>
              <a:rPr lang="en-US" b="true" sz="2783">
                <a:solidFill>
                  <a:srgbClr val="000000"/>
                </a:solidFill>
                <a:latin typeface="Arimo Bold"/>
                <a:ea typeface="Arimo Bold"/>
                <a:cs typeface="Arimo Bold"/>
                <a:sym typeface="Arimo Bold"/>
              </a:rPr>
              <a:t>UI Depth &amp; State Management:</a:t>
            </a:r>
          </a:p>
          <a:p>
            <a:pPr algn="l">
              <a:lnSpc>
                <a:spcPts val="3896"/>
              </a:lnSpc>
            </a:pPr>
            <a:r>
              <a:rPr lang="en-US" sz="2783" b="true">
                <a:solidFill>
                  <a:srgbClr val="000000"/>
                </a:solidFill>
                <a:latin typeface="Arimo Bold"/>
                <a:ea typeface="Arimo Bold"/>
                <a:cs typeface="Arimo Bold"/>
                <a:sym typeface="Arimo Bold"/>
              </a:rPr>
              <a:t>Challenge: </a:t>
            </a:r>
            <a:r>
              <a:rPr lang="en-US" sz="2783">
                <a:solidFill>
                  <a:srgbClr val="000000"/>
                </a:solidFill>
                <a:latin typeface="Arimo"/>
                <a:ea typeface="Arimo"/>
                <a:cs typeface="Arimo"/>
                <a:sym typeface="Arimo"/>
              </a:rPr>
              <a:t>Managing overlapping UI elements (like the Info Popup appearing over the Dashboard) without losing the background frame.</a:t>
            </a:r>
          </a:p>
          <a:p>
            <a:pPr algn="l">
              <a:lnSpc>
                <a:spcPts val="3896"/>
              </a:lnSpc>
            </a:pPr>
          </a:p>
          <a:p>
            <a:pPr algn="l" marL="600936" indent="-300468" lvl="1">
              <a:lnSpc>
                <a:spcPts val="3896"/>
              </a:lnSpc>
              <a:buFont typeface="Arial"/>
              <a:buChar char="•"/>
            </a:pPr>
            <a:r>
              <a:rPr lang="en-US" b="true" sz="2783">
                <a:solidFill>
                  <a:srgbClr val="000000"/>
                </a:solidFill>
                <a:latin typeface="Arimo Bold"/>
                <a:ea typeface="Arimo Bold"/>
                <a:cs typeface="Arimo Bold"/>
                <a:sym typeface="Arimo Bold"/>
              </a:rPr>
              <a:t>Environment Lighting &amp; Occlusion:</a:t>
            </a:r>
          </a:p>
          <a:p>
            <a:pPr algn="l">
              <a:lnSpc>
                <a:spcPts val="3896"/>
              </a:lnSpc>
            </a:pPr>
            <a:r>
              <a:rPr lang="en-US" sz="2783" b="true">
                <a:solidFill>
                  <a:srgbClr val="000000"/>
                </a:solidFill>
                <a:latin typeface="Arimo Bold"/>
                <a:ea typeface="Arimo Bold"/>
                <a:cs typeface="Arimo Bold"/>
                <a:sym typeface="Arimo Bold"/>
              </a:rPr>
              <a:t>Challenge: </a:t>
            </a:r>
            <a:r>
              <a:rPr lang="en-US" sz="2783">
                <a:solidFill>
                  <a:srgbClr val="000000"/>
                </a:solidFill>
                <a:latin typeface="Arimo"/>
                <a:ea typeface="Arimo"/>
                <a:cs typeface="Arimo"/>
                <a:sym typeface="Arimo"/>
              </a:rPr>
              <a:t>Maintaining high detection confidence (detectionCon=0.6) in varying light conditions.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26742"/>
            <a:chOff x="0" y="0"/>
            <a:chExt cx="24384000" cy="1768989"/>
          </a:xfrm>
        </p:grpSpPr>
        <p:sp>
          <p:nvSpPr>
            <p:cNvPr name="Freeform 3" id="3"/>
            <p:cNvSpPr/>
            <p:nvPr/>
          </p:nvSpPr>
          <p:spPr>
            <a:xfrm flipH="false" flipV="false" rot="0">
              <a:off x="0" y="0"/>
              <a:ext cx="24384000" cy="1768986"/>
            </a:xfrm>
            <a:custGeom>
              <a:avLst/>
              <a:gdLst/>
              <a:ahLst/>
              <a:cxnLst/>
              <a:rect r="r" b="b" t="t" l="l"/>
              <a:pathLst>
                <a:path h="1768986" w="24384000">
                  <a:moveTo>
                    <a:pt x="0" y="0"/>
                  </a:moveTo>
                  <a:lnTo>
                    <a:pt x="24384000" y="0"/>
                  </a:lnTo>
                  <a:lnTo>
                    <a:pt x="24384000" y="1768986"/>
                  </a:lnTo>
                  <a:lnTo>
                    <a:pt x="0" y="1768986"/>
                  </a:lnTo>
                  <a:close/>
                </a:path>
              </a:pathLst>
            </a:custGeom>
            <a:blipFill>
              <a:blip r:embed="rId2">
                <a:alphaModFix amt="0"/>
              </a:blip>
              <a:stretch>
                <a:fillRect l="0" t="-61468" r="61179" b="-47063"/>
              </a:stretch>
            </a:blipFill>
          </p:spPr>
        </p:sp>
        <p:sp>
          <p:nvSpPr>
            <p:cNvPr name="TextBox 4" id="4"/>
            <p:cNvSpPr txBox="true"/>
            <p:nvPr/>
          </p:nvSpPr>
          <p:spPr>
            <a:xfrm>
              <a:off x="0" y="38100"/>
              <a:ext cx="24384000" cy="1730889"/>
            </a:xfrm>
            <a:prstGeom prst="rect">
              <a:avLst/>
            </a:prstGeom>
          </p:spPr>
          <p:txBody>
            <a:bodyPr anchor="ctr" rtlCol="false" tIns="0" lIns="0" bIns="0" rIns="0"/>
            <a:lstStyle/>
            <a:p>
              <a:pPr algn="ctr">
                <a:lnSpc>
                  <a:spcPts val="7128"/>
                </a:lnSpc>
              </a:pPr>
              <a:r>
                <a:rPr lang="en-US" b="true" sz="6600" spc="-343">
                  <a:solidFill>
                    <a:srgbClr val="FF0000"/>
                  </a:solidFill>
                  <a:latin typeface="Times New Roman Bold"/>
                  <a:ea typeface="Times New Roman Bold"/>
                  <a:cs typeface="Times New Roman Bold"/>
                  <a:sym typeface="Times New Roman Bold"/>
                </a:rPr>
                <a:t>Real-World Applications :</a:t>
              </a:r>
            </a:p>
          </p:txBody>
        </p:sp>
      </p:grpSp>
      <p:sp>
        <p:nvSpPr>
          <p:cNvPr name="TextBox 5" id="5"/>
          <p:cNvSpPr txBox="true"/>
          <p:nvPr/>
        </p:nvSpPr>
        <p:spPr>
          <a:xfrm rot="0">
            <a:off x="260191" y="1322748"/>
            <a:ext cx="17767618" cy="8277810"/>
          </a:xfrm>
          <a:prstGeom prst="rect">
            <a:avLst/>
          </a:prstGeom>
        </p:spPr>
        <p:txBody>
          <a:bodyPr anchor="t" rtlCol="false" tIns="0" lIns="0" bIns="0" rIns="0">
            <a:spAutoFit/>
          </a:bodyPr>
          <a:lstStyle/>
          <a:p>
            <a:pPr algn="l" marL="691123" indent="-345562" lvl="1">
              <a:lnSpc>
                <a:spcPts val="5441"/>
              </a:lnSpc>
              <a:buFont typeface="Arial"/>
              <a:buChar char="•"/>
            </a:pPr>
            <a:r>
              <a:rPr lang="en-US" b="true" sz="3201">
                <a:solidFill>
                  <a:srgbClr val="000000"/>
                </a:solidFill>
                <a:latin typeface="Arimo Bold"/>
                <a:ea typeface="Arimo Bold"/>
                <a:cs typeface="Arimo Bold"/>
                <a:sym typeface="Arimo Bold"/>
              </a:rPr>
              <a:t>Sterile Medical Environments:</a:t>
            </a:r>
            <a:r>
              <a:rPr lang="en-US" sz="3201">
                <a:solidFill>
                  <a:srgbClr val="000000"/>
                </a:solidFill>
                <a:latin typeface="Arimo"/>
                <a:ea typeface="Arimo"/>
                <a:cs typeface="Arimo"/>
                <a:sym typeface="Arimo"/>
              </a:rPr>
              <a:t> Surgeons or lab technicians can interact with patient data, X-rays, or task checklists without touching physical screens or keyboards, maintaining strict hygiene protocols.</a:t>
            </a:r>
          </a:p>
          <a:p>
            <a:pPr algn="l" marL="691123" indent="-345562" lvl="1">
              <a:lnSpc>
                <a:spcPts val="4481"/>
              </a:lnSpc>
              <a:buFont typeface="Arial"/>
              <a:buChar char="•"/>
            </a:pPr>
            <a:r>
              <a:rPr lang="en-US" b="true" sz="3201">
                <a:solidFill>
                  <a:srgbClr val="000000"/>
                </a:solidFill>
                <a:latin typeface="Arimo Bold"/>
                <a:ea typeface="Arimo Bold"/>
                <a:cs typeface="Arimo Bold"/>
                <a:sym typeface="Arimo Bold"/>
              </a:rPr>
              <a:t>Smart Manufacturing &amp; Workshops:</a:t>
            </a:r>
            <a:r>
              <a:rPr lang="en-US" sz="3201">
                <a:solidFill>
                  <a:srgbClr val="000000"/>
                </a:solidFill>
                <a:latin typeface="Arimo"/>
                <a:ea typeface="Arimo"/>
                <a:cs typeface="Arimo"/>
                <a:sym typeface="Arimo"/>
              </a:rPr>
              <a:t> Engineers in oily or hazardous environments can navigate technical manuals or log completion of maintenance tasks "hands-free."</a:t>
            </a:r>
          </a:p>
          <a:p>
            <a:pPr algn="l" marL="691123" indent="-345562" lvl="1">
              <a:lnSpc>
                <a:spcPts val="4481"/>
              </a:lnSpc>
              <a:buFont typeface="Arial"/>
              <a:buChar char="•"/>
            </a:pPr>
            <a:r>
              <a:rPr lang="en-US" b="true" sz="3201">
                <a:solidFill>
                  <a:srgbClr val="000000"/>
                </a:solidFill>
                <a:latin typeface="Arimo Bold"/>
                <a:ea typeface="Arimo Bold"/>
                <a:cs typeface="Arimo Bold"/>
                <a:sym typeface="Arimo Bold"/>
              </a:rPr>
              <a:t>Public Information Kiosks:</a:t>
            </a:r>
            <a:r>
              <a:rPr lang="en-US" sz="3201">
                <a:solidFill>
                  <a:srgbClr val="000000"/>
                </a:solidFill>
                <a:latin typeface="Arimo"/>
                <a:ea typeface="Arimo"/>
                <a:cs typeface="Arimo"/>
                <a:sym typeface="Arimo"/>
              </a:rPr>
              <a:t> Implementing touchless navigation in high-traffic areas (airports, malls, or museums) to reduce the spread of germs on physical touchscreens.</a:t>
            </a:r>
          </a:p>
          <a:p>
            <a:pPr algn="l" marL="691123" indent="-345562" lvl="1">
              <a:lnSpc>
                <a:spcPts val="4481"/>
              </a:lnSpc>
              <a:buFont typeface="Arial"/>
              <a:buChar char="•"/>
            </a:pPr>
            <a:r>
              <a:rPr lang="en-US" b="true" sz="3201">
                <a:solidFill>
                  <a:srgbClr val="000000"/>
                </a:solidFill>
                <a:latin typeface="Arimo Bold"/>
                <a:ea typeface="Arimo Bold"/>
                <a:cs typeface="Arimo Bold"/>
                <a:sym typeface="Arimo Bold"/>
              </a:rPr>
              <a:t>Enhanced Accessibility (Assistive Tech):</a:t>
            </a:r>
            <a:r>
              <a:rPr lang="en-US" sz="3201">
                <a:solidFill>
                  <a:srgbClr val="000000"/>
                </a:solidFill>
                <a:latin typeface="Arimo"/>
                <a:ea typeface="Arimo"/>
                <a:cs typeface="Arimo"/>
                <a:sym typeface="Arimo"/>
              </a:rPr>
              <a:t> Providing an alternative input method for individuals with motor impairments who may find traditional mouse/keyboard interaction challenging.</a:t>
            </a:r>
          </a:p>
          <a:p>
            <a:pPr algn="l" marL="691123" indent="-345562" lvl="1">
              <a:lnSpc>
                <a:spcPts val="4481"/>
              </a:lnSpc>
              <a:buFont typeface="Arial"/>
              <a:buChar char="•"/>
            </a:pPr>
            <a:r>
              <a:rPr lang="en-US" b="true" sz="3201">
                <a:solidFill>
                  <a:srgbClr val="000000"/>
                </a:solidFill>
                <a:latin typeface="Arimo Bold"/>
                <a:ea typeface="Arimo Bold"/>
                <a:cs typeface="Arimo Bold"/>
                <a:sym typeface="Arimo Bold"/>
              </a:rPr>
              <a:t>Interactive Retail &amp; Digital Signage:</a:t>
            </a:r>
            <a:r>
              <a:rPr lang="en-US" sz="3201">
                <a:solidFill>
                  <a:srgbClr val="000000"/>
                </a:solidFill>
                <a:latin typeface="Arimo"/>
                <a:ea typeface="Arimo"/>
                <a:cs typeface="Arimo"/>
                <a:sym typeface="Arimo"/>
              </a:rPr>
              <a:t> Creating immersive "Storefront" experiences where customers can browse catalogs or customize products through mid-air gestures.</a:t>
            </a:r>
          </a:p>
          <a:p>
            <a:pPr algn="l" marL="691123" indent="-345562" lvl="1">
              <a:lnSpc>
                <a:spcPts val="4481"/>
              </a:lnSpc>
              <a:buFont typeface="Arial"/>
              <a:buChar char="•"/>
            </a:pPr>
            <a:r>
              <a:rPr lang="en-US" b="true" sz="3201">
                <a:solidFill>
                  <a:srgbClr val="000000"/>
                </a:solidFill>
                <a:latin typeface="Arimo Bold"/>
                <a:ea typeface="Arimo Bold"/>
                <a:cs typeface="Arimo Bold"/>
                <a:sym typeface="Arimo Bold"/>
              </a:rPr>
              <a:t>Immersive Education:</a:t>
            </a:r>
            <a:r>
              <a:rPr lang="en-US" sz="3201">
                <a:solidFill>
                  <a:srgbClr val="000000"/>
                </a:solidFill>
                <a:latin typeface="Arimo"/>
                <a:ea typeface="Arimo"/>
                <a:cs typeface="Arimo"/>
                <a:sym typeface="Arimo"/>
              </a:rPr>
              <a:t> Transform traditional classroom settings into interactive learning environments where students interact with 3D-mapped data or digital modules physically.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26742"/>
            <a:chOff x="0" y="0"/>
            <a:chExt cx="24384000" cy="1768989"/>
          </a:xfrm>
        </p:grpSpPr>
        <p:sp>
          <p:nvSpPr>
            <p:cNvPr name="Freeform 3" id="3"/>
            <p:cNvSpPr/>
            <p:nvPr/>
          </p:nvSpPr>
          <p:spPr>
            <a:xfrm flipH="false" flipV="false" rot="0">
              <a:off x="0" y="0"/>
              <a:ext cx="24384000" cy="1768986"/>
            </a:xfrm>
            <a:custGeom>
              <a:avLst/>
              <a:gdLst/>
              <a:ahLst/>
              <a:cxnLst/>
              <a:rect r="r" b="b" t="t" l="l"/>
              <a:pathLst>
                <a:path h="1768986" w="24384000">
                  <a:moveTo>
                    <a:pt x="0" y="0"/>
                  </a:moveTo>
                  <a:lnTo>
                    <a:pt x="24384000" y="0"/>
                  </a:lnTo>
                  <a:lnTo>
                    <a:pt x="24384000" y="1768986"/>
                  </a:lnTo>
                  <a:lnTo>
                    <a:pt x="0" y="1768986"/>
                  </a:lnTo>
                  <a:close/>
                </a:path>
              </a:pathLst>
            </a:custGeom>
            <a:blipFill>
              <a:blip r:embed="rId2">
                <a:alphaModFix amt="0"/>
              </a:blip>
              <a:stretch>
                <a:fillRect l="0" t="-61468" r="61179" b="-47063"/>
              </a:stretch>
            </a:blipFill>
          </p:spPr>
        </p:sp>
        <p:sp>
          <p:nvSpPr>
            <p:cNvPr name="TextBox 4" id="4"/>
            <p:cNvSpPr txBox="true"/>
            <p:nvPr/>
          </p:nvSpPr>
          <p:spPr>
            <a:xfrm>
              <a:off x="0" y="38100"/>
              <a:ext cx="24384000" cy="1730889"/>
            </a:xfrm>
            <a:prstGeom prst="rect">
              <a:avLst/>
            </a:prstGeom>
          </p:spPr>
          <p:txBody>
            <a:bodyPr anchor="ctr" rtlCol="false" tIns="0" lIns="0" bIns="0" rIns="0"/>
            <a:lstStyle/>
            <a:p>
              <a:pPr algn="ctr">
                <a:lnSpc>
                  <a:spcPts val="7128"/>
                </a:lnSpc>
              </a:pPr>
              <a:r>
                <a:rPr lang="en-US" b="true" sz="6600" spc="-343">
                  <a:solidFill>
                    <a:srgbClr val="FF0000"/>
                  </a:solidFill>
                  <a:latin typeface="Times New Roman Bold"/>
                  <a:ea typeface="Times New Roman Bold"/>
                  <a:cs typeface="Times New Roman Bold"/>
                  <a:sym typeface="Times New Roman Bold"/>
                </a:rPr>
                <a:t>Future Improvements :</a:t>
              </a:r>
            </a:p>
          </p:txBody>
        </p:sp>
      </p:grpSp>
      <p:sp>
        <p:nvSpPr>
          <p:cNvPr name="TextBox 5" id="5"/>
          <p:cNvSpPr txBox="true"/>
          <p:nvPr/>
        </p:nvSpPr>
        <p:spPr>
          <a:xfrm rot="0">
            <a:off x="260191" y="1566098"/>
            <a:ext cx="17767618" cy="8207303"/>
          </a:xfrm>
          <a:prstGeom prst="rect">
            <a:avLst/>
          </a:prstGeom>
        </p:spPr>
        <p:txBody>
          <a:bodyPr anchor="t" rtlCol="false" tIns="0" lIns="0" bIns="0" rIns="0">
            <a:spAutoFit/>
          </a:bodyPr>
          <a:lstStyle/>
          <a:p>
            <a:pPr algn="l" marL="691123" indent="-345562" lvl="1">
              <a:lnSpc>
                <a:spcPts val="5441"/>
              </a:lnSpc>
              <a:buFont typeface="Arial"/>
              <a:buChar char="•"/>
            </a:pPr>
            <a:r>
              <a:rPr lang="en-US" b="true" sz="3201">
                <a:solidFill>
                  <a:srgbClr val="000000"/>
                </a:solidFill>
                <a:latin typeface="Arimo Bold"/>
                <a:ea typeface="Arimo Bold"/>
                <a:cs typeface="Arimo Bold"/>
                <a:sym typeface="Arimo Bold"/>
              </a:rPr>
              <a:t>Advanced Gesture Recognition –</a:t>
            </a:r>
            <a:r>
              <a:rPr lang="en-US" sz="3201">
                <a:solidFill>
                  <a:srgbClr val="000000"/>
                </a:solidFill>
                <a:latin typeface="Arimo"/>
                <a:ea typeface="Arimo"/>
                <a:cs typeface="Arimo"/>
                <a:sym typeface="Arimo"/>
              </a:rPr>
              <a:t> Add more gesture types for additional controls such as task editing, deleting, or navigation.</a:t>
            </a:r>
          </a:p>
          <a:p>
            <a:pPr algn="l" marL="691123" indent="-345562" lvl="1">
              <a:lnSpc>
                <a:spcPts val="5441"/>
              </a:lnSpc>
              <a:buFont typeface="Arial"/>
              <a:buChar char="•"/>
            </a:pPr>
            <a:r>
              <a:rPr lang="en-US" b="true" sz="3201">
                <a:solidFill>
                  <a:srgbClr val="000000"/>
                </a:solidFill>
                <a:latin typeface="Arimo Bold"/>
                <a:ea typeface="Arimo Bold"/>
                <a:cs typeface="Arimo Bold"/>
                <a:sym typeface="Arimo Bold"/>
              </a:rPr>
              <a:t>Multi-Hand and Multi-User Support –</a:t>
            </a:r>
            <a:r>
              <a:rPr lang="en-US" sz="3201">
                <a:solidFill>
                  <a:srgbClr val="000000"/>
                </a:solidFill>
                <a:latin typeface="Arimo"/>
                <a:ea typeface="Arimo"/>
                <a:cs typeface="Arimo"/>
                <a:sym typeface="Arimo"/>
              </a:rPr>
              <a:t> Extend the system to detect multiple hands for collaborative interaction.</a:t>
            </a:r>
          </a:p>
          <a:p>
            <a:pPr algn="l" marL="691123" indent="-345562" lvl="1">
              <a:lnSpc>
                <a:spcPts val="5441"/>
              </a:lnSpc>
              <a:buFont typeface="Arial"/>
              <a:buChar char="•"/>
            </a:pPr>
            <a:r>
              <a:rPr lang="en-US" b="true" sz="3201">
                <a:solidFill>
                  <a:srgbClr val="000000"/>
                </a:solidFill>
                <a:latin typeface="Arimo Bold"/>
                <a:ea typeface="Arimo Bold"/>
                <a:cs typeface="Arimo Bold"/>
                <a:sym typeface="Arimo Bold"/>
              </a:rPr>
              <a:t>Database Integration –</a:t>
            </a:r>
            <a:r>
              <a:rPr lang="en-US" sz="3201">
                <a:solidFill>
                  <a:srgbClr val="000000"/>
                </a:solidFill>
                <a:latin typeface="Arimo"/>
                <a:ea typeface="Arimo"/>
                <a:cs typeface="Arimo"/>
                <a:sym typeface="Arimo"/>
              </a:rPr>
              <a:t> Replace Excel with a database system for scalable task storage and management.</a:t>
            </a:r>
          </a:p>
          <a:p>
            <a:pPr algn="l" marL="691123" indent="-345562" lvl="1">
              <a:lnSpc>
                <a:spcPts val="5441"/>
              </a:lnSpc>
              <a:buFont typeface="Arial"/>
              <a:buChar char="•"/>
            </a:pPr>
            <a:r>
              <a:rPr lang="en-US" b="true" sz="3201">
                <a:solidFill>
                  <a:srgbClr val="000000"/>
                </a:solidFill>
                <a:latin typeface="Arimo Bold"/>
                <a:ea typeface="Arimo Bold"/>
                <a:cs typeface="Arimo Bold"/>
                <a:sym typeface="Arimo Bold"/>
              </a:rPr>
              <a:t>Improved UI Design –</a:t>
            </a:r>
            <a:r>
              <a:rPr lang="en-US" sz="3201">
                <a:solidFill>
                  <a:srgbClr val="000000"/>
                </a:solidFill>
                <a:latin typeface="Arimo"/>
                <a:ea typeface="Arimo"/>
                <a:cs typeface="Arimo"/>
                <a:sym typeface="Arimo"/>
              </a:rPr>
              <a:t> Develop a more advanced graphical interface with richer visual elements and smoother animations.</a:t>
            </a:r>
          </a:p>
          <a:p>
            <a:pPr algn="l" marL="691123" indent="-345562" lvl="1">
              <a:lnSpc>
                <a:spcPts val="5441"/>
              </a:lnSpc>
              <a:buFont typeface="Arial"/>
              <a:buChar char="•"/>
            </a:pPr>
            <a:r>
              <a:rPr lang="en-US" b="true" sz="3201">
                <a:solidFill>
                  <a:srgbClr val="000000"/>
                </a:solidFill>
                <a:latin typeface="Arimo Bold"/>
                <a:ea typeface="Arimo Bold"/>
                <a:cs typeface="Arimo Bold"/>
                <a:sym typeface="Arimo Bold"/>
              </a:rPr>
              <a:t>Mobile or Web Integration –</a:t>
            </a:r>
            <a:r>
              <a:rPr lang="en-US" sz="3201">
                <a:solidFill>
                  <a:srgbClr val="000000"/>
                </a:solidFill>
                <a:latin typeface="Arimo"/>
                <a:ea typeface="Arimo"/>
                <a:cs typeface="Arimo"/>
                <a:sym typeface="Arimo"/>
              </a:rPr>
              <a:t> Expand the system to work with mobile devices or web-based dashboards for broader accessibility.</a:t>
            </a:r>
          </a:p>
          <a:p>
            <a:pPr algn="l" marL="691123" indent="-345562" lvl="1">
              <a:lnSpc>
                <a:spcPts val="5441"/>
              </a:lnSpc>
              <a:buFont typeface="Arial"/>
              <a:buChar char="•"/>
            </a:pPr>
            <a:r>
              <a:rPr lang="en-US" b="true" sz="3201">
                <a:solidFill>
                  <a:srgbClr val="000000"/>
                </a:solidFill>
                <a:latin typeface="Arimo Bold"/>
                <a:ea typeface="Arimo Bold"/>
                <a:cs typeface="Arimo Bold"/>
                <a:sym typeface="Arimo Bold"/>
              </a:rPr>
              <a:t>Face Recognition for User Identification –</a:t>
            </a:r>
            <a:r>
              <a:rPr lang="en-US" sz="3201">
                <a:solidFill>
                  <a:srgbClr val="000000"/>
                </a:solidFill>
                <a:latin typeface="Arimo"/>
                <a:ea typeface="Arimo"/>
                <a:cs typeface="Arimo"/>
                <a:sym typeface="Arimo"/>
              </a:rPr>
              <a:t> Integrate face recognition so the system identifies the user and loads their personalized task list automatically.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326742"/>
            <a:chOff x="0" y="0"/>
            <a:chExt cx="24384000" cy="1768989"/>
          </a:xfrm>
        </p:grpSpPr>
        <p:sp>
          <p:nvSpPr>
            <p:cNvPr name="Freeform 3" id="3"/>
            <p:cNvSpPr/>
            <p:nvPr/>
          </p:nvSpPr>
          <p:spPr>
            <a:xfrm flipH="false" flipV="false" rot="0">
              <a:off x="0" y="0"/>
              <a:ext cx="24384000" cy="1768986"/>
            </a:xfrm>
            <a:custGeom>
              <a:avLst/>
              <a:gdLst/>
              <a:ahLst/>
              <a:cxnLst/>
              <a:rect r="r" b="b" t="t" l="l"/>
              <a:pathLst>
                <a:path h="1768986" w="24384000">
                  <a:moveTo>
                    <a:pt x="0" y="0"/>
                  </a:moveTo>
                  <a:lnTo>
                    <a:pt x="24384000" y="0"/>
                  </a:lnTo>
                  <a:lnTo>
                    <a:pt x="24384000" y="1768986"/>
                  </a:lnTo>
                  <a:lnTo>
                    <a:pt x="0" y="1768986"/>
                  </a:lnTo>
                  <a:close/>
                </a:path>
              </a:pathLst>
            </a:custGeom>
            <a:blipFill>
              <a:blip r:embed="rId2">
                <a:alphaModFix amt="0"/>
              </a:blip>
              <a:stretch>
                <a:fillRect l="0" t="-61468" r="61179" b="-47063"/>
              </a:stretch>
            </a:blipFill>
          </p:spPr>
        </p:sp>
        <p:sp>
          <p:nvSpPr>
            <p:cNvPr name="TextBox 4" id="4"/>
            <p:cNvSpPr txBox="true"/>
            <p:nvPr/>
          </p:nvSpPr>
          <p:spPr>
            <a:xfrm>
              <a:off x="0" y="38100"/>
              <a:ext cx="24384000" cy="1730889"/>
            </a:xfrm>
            <a:prstGeom prst="rect">
              <a:avLst/>
            </a:prstGeom>
          </p:spPr>
          <p:txBody>
            <a:bodyPr anchor="ctr" rtlCol="false" tIns="0" lIns="0" bIns="0" rIns="0"/>
            <a:lstStyle/>
            <a:p>
              <a:pPr algn="ctr">
                <a:lnSpc>
                  <a:spcPts val="7128"/>
                </a:lnSpc>
              </a:pPr>
              <a:r>
                <a:rPr lang="en-US" b="true" sz="6600" spc="-343">
                  <a:solidFill>
                    <a:srgbClr val="FF0000"/>
                  </a:solidFill>
                  <a:latin typeface="Times New Roman Bold"/>
                  <a:ea typeface="Times New Roman Bold"/>
                  <a:cs typeface="Times New Roman Bold"/>
                  <a:sym typeface="Times New Roman Bold"/>
                </a:rPr>
                <a:t>Conclusion :</a:t>
              </a:r>
            </a:p>
          </p:txBody>
        </p:sp>
      </p:grpSp>
      <p:sp>
        <p:nvSpPr>
          <p:cNvPr name="TextBox 5" id="5"/>
          <p:cNvSpPr txBox="true"/>
          <p:nvPr/>
        </p:nvSpPr>
        <p:spPr>
          <a:xfrm rot="0">
            <a:off x="285582" y="1404787"/>
            <a:ext cx="17716837" cy="5829810"/>
          </a:xfrm>
          <a:prstGeom prst="rect">
            <a:avLst/>
          </a:prstGeom>
        </p:spPr>
        <p:txBody>
          <a:bodyPr anchor="t" rtlCol="false" tIns="0" lIns="0" bIns="0" rIns="0">
            <a:spAutoFit/>
          </a:bodyPr>
          <a:lstStyle/>
          <a:p>
            <a:pPr algn="l">
              <a:lnSpc>
                <a:spcPts val="6616"/>
              </a:lnSpc>
            </a:pPr>
            <a:r>
              <a:rPr lang="en-US" sz="3891">
                <a:solidFill>
                  <a:srgbClr val="000000"/>
                </a:solidFill>
                <a:latin typeface="Arimo"/>
                <a:ea typeface="Arimo"/>
                <a:cs typeface="Arimo"/>
                <a:sym typeface="Arimo"/>
              </a:rPr>
              <a:t>This project demonstrates a </a:t>
            </a:r>
            <a:r>
              <a:rPr lang="en-US" sz="3891" b="true">
                <a:solidFill>
                  <a:srgbClr val="000000"/>
                </a:solidFill>
                <a:latin typeface="Arimo Bold"/>
                <a:ea typeface="Arimo Bold"/>
                <a:cs typeface="Arimo Bold"/>
                <a:sym typeface="Arimo Bold"/>
              </a:rPr>
              <a:t>Gesture Controlled Task Dashboard</a:t>
            </a:r>
            <a:r>
              <a:rPr lang="en-US" sz="3891">
                <a:solidFill>
                  <a:srgbClr val="000000"/>
                </a:solidFill>
                <a:latin typeface="Arimo"/>
                <a:ea typeface="Arimo"/>
                <a:cs typeface="Arimo"/>
                <a:sym typeface="Arimo"/>
              </a:rPr>
              <a:t> that enables users to manage tasks through natural hand gestures using computer vision. By integrating </a:t>
            </a:r>
            <a:r>
              <a:rPr lang="en-US" sz="3891" b="true">
                <a:solidFill>
                  <a:srgbClr val="000000"/>
                </a:solidFill>
                <a:latin typeface="Arimo Bold"/>
                <a:ea typeface="Arimo Bold"/>
                <a:cs typeface="Arimo Bold"/>
                <a:sym typeface="Arimo Bold"/>
              </a:rPr>
              <a:t>OpenCV, MediaPipe, and CVZone</a:t>
            </a:r>
            <a:r>
              <a:rPr lang="en-US" sz="3891">
                <a:solidFill>
                  <a:srgbClr val="000000"/>
                </a:solidFill>
                <a:latin typeface="Arimo"/>
                <a:ea typeface="Arimo"/>
                <a:cs typeface="Arimo"/>
                <a:sym typeface="Arimo"/>
              </a:rPr>
              <a:t>, the system detects hand movements in real time and allows users to interact with tasks through gesture-based actions such as selecting, dragging, and completing tasks. The project highlights the potential of </a:t>
            </a:r>
            <a:r>
              <a:rPr lang="en-US" sz="3891" b="true">
                <a:solidFill>
                  <a:srgbClr val="000000"/>
                </a:solidFill>
                <a:latin typeface="Arimo Bold"/>
                <a:ea typeface="Arimo Bold"/>
                <a:cs typeface="Arimo Bold"/>
                <a:sym typeface="Arimo Bold"/>
              </a:rPr>
              <a:t>touchless human–computer interaction</a:t>
            </a:r>
            <a:r>
              <a:rPr lang="en-US" sz="3891">
                <a:solidFill>
                  <a:srgbClr val="000000"/>
                </a:solidFill>
                <a:latin typeface="Arimo"/>
                <a:ea typeface="Arimo"/>
                <a:cs typeface="Arimo"/>
                <a:sym typeface="Arimo"/>
              </a:rPr>
              <a:t> for creating more intuitive and interactive digital systems.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9050"/>
            <a:ext cx="18288000" cy="12182170"/>
            <a:chOff x="0" y="0"/>
            <a:chExt cx="24384000" cy="16242894"/>
          </a:xfrm>
        </p:grpSpPr>
        <p:sp>
          <p:nvSpPr>
            <p:cNvPr name="Freeform 3" id="3" descr="default_img"/>
            <p:cNvSpPr/>
            <p:nvPr/>
          </p:nvSpPr>
          <p:spPr>
            <a:xfrm flipH="false" flipV="false" rot="0">
              <a:off x="0" y="0"/>
              <a:ext cx="24384000" cy="16242919"/>
            </a:xfrm>
            <a:custGeom>
              <a:avLst/>
              <a:gdLst/>
              <a:ahLst/>
              <a:cxnLst/>
              <a:rect r="r" b="b" t="t" l="l"/>
              <a:pathLst>
                <a:path h="16242919" w="24384000">
                  <a:moveTo>
                    <a:pt x="0" y="0"/>
                  </a:moveTo>
                  <a:lnTo>
                    <a:pt x="24384000" y="0"/>
                  </a:lnTo>
                  <a:lnTo>
                    <a:pt x="24384000" y="16242919"/>
                  </a:lnTo>
                  <a:lnTo>
                    <a:pt x="0" y="16242919"/>
                  </a:lnTo>
                  <a:lnTo>
                    <a:pt x="0" y="0"/>
                  </a:lnTo>
                  <a:close/>
                </a:path>
              </a:pathLst>
            </a:custGeom>
            <a:blipFill>
              <a:blip r:embed="rId2"/>
              <a:stretch>
                <a:fillRect l="0" t="0" r="-18422"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99774" y="2776128"/>
            <a:ext cx="6698466" cy="4251474"/>
            <a:chOff x="0" y="0"/>
            <a:chExt cx="8931288" cy="5668632"/>
          </a:xfrm>
        </p:grpSpPr>
        <p:sp>
          <p:nvSpPr>
            <p:cNvPr name="Freeform 3" id="3"/>
            <p:cNvSpPr/>
            <p:nvPr/>
          </p:nvSpPr>
          <p:spPr>
            <a:xfrm flipH="false" flipV="false" rot="0">
              <a:off x="0" y="0"/>
              <a:ext cx="8931275" cy="5668645"/>
            </a:xfrm>
            <a:custGeom>
              <a:avLst/>
              <a:gdLst/>
              <a:ahLst/>
              <a:cxnLst/>
              <a:rect r="r" b="b" t="t" l="l"/>
              <a:pathLst>
                <a:path h="5668645" w="8931275">
                  <a:moveTo>
                    <a:pt x="0" y="0"/>
                  </a:moveTo>
                  <a:lnTo>
                    <a:pt x="8931275" y="0"/>
                  </a:lnTo>
                  <a:lnTo>
                    <a:pt x="8931275" y="5668645"/>
                  </a:lnTo>
                  <a:lnTo>
                    <a:pt x="0" y="5668645"/>
                  </a:lnTo>
                  <a:lnTo>
                    <a:pt x="0" y="0"/>
                  </a:lnTo>
                  <a:close/>
                </a:path>
              </a:pathLst>
            </a:custGeom>
            <a:blipFill>
              <a:blip r:embed="rId3"/>
              <a:stretch>
                <a:fillRect l="0" t="0" r="0" b="0"/>
              </a:stretch>
            </a:blipFill>
          </p:spPr>
        </p:sp>
      </p:grpSp>
      <p:sp>
        <p:nvSpPr>
          <p:cNvPr name="TextBox 4" id="4"/>
          <p:cNvSpPr txBox="true"/>
          <p:nvPr/>
        </p:nvSpPr>
        <p:spPr>
          <a:xfrm rot="0">
            <a:off x="1958321" y="4541501"/>
            <a:ext cx="5309902" cy="1062761"/>
          </a:xfrm>
          <a:prstGeom prst="rect">
            <a:avLst/>
          </a:prstGeom>
        </p:spPr>
        <p:txBody>
          <a:bodyPr anchor="t" rtlCol="false" tIns="0" lIns="0" bIns="0" rIns="0">
            <a:spAutoFit/>
          </a:bodyPr>
          <a:lstStyle/>
          <a:p>
            <a:pPr algn="l">
              <a:lnSpc>
                <a:spcPts val="7920"/>
              </a:lnSpc>
            </a:pPr>
            <a:r>
              <a:rPr lang="en-US" sz="6600">
                <a:solidFill>
                  <a:srgbClr val="C00000"/>
                </a:solidFill>
                <a:latin typeface="Libre Baskerville"/>
                <a:ea typeface="Libre Baskerville"/>
                <a:cs typeface="Libre Baskerville"/>
                <a:sym typeface="Libre Baskervill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DAHDLAfa5nQ</dc:identifier>
  <dcterms:modified xsi:type="dcterms:W3CDTF">2011-08-01T06:04:30Z</dcterms:modified>
  <cp:revision>1</cp:revision>
  <dc:title>opencv Project PPT.pptx</dc:title>
</cp:coreProperties>
</file>